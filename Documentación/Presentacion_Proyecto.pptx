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webp"/><Relationship Id="rId2" Type="http://schemas.openxmlformats.org/officeDocument/2006/relationships/image" Target="../media/image-2-2.webp"/><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webp"/><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webp"/><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webp"/><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DE7"/>
        </a:solidFill>
      </p:bgPr>
    </p:bg>
    <p:spTree>
      <p:nvGrpSpPr>
        <p:cNvPr id="1" name=""/>
        <p:cNvGrpSpPr/>
        <p:nvPr/>
      </p:nvGrpSpPr>
      <p:grpSpPr>
        <a:xfrm>
          <a:off x="0" y="0"/>
          <a:ext cx="0" cy="0"/>
          <a:chOff x="0" y="0"/>
          <a:chExt cx="0" cy="0"/>
        </a:xfrm>
      </p:grpSpPr>
      <p:sp>
        <p:nvSpPr>
          <p:cNvPr id="2" name="Shape 0"/>
          <p:cNvSpPr/>
          <p:nvPr/>
        </p:nvSpPr>
        <p:spPr>
          <a:xfrm>
            <a:off x="0" y="0"/>
            <a:ext cx="18288000" cy="66675"/>
          </a:xfrm>
          <a:prstGeom prst="rect">
            <a:avLst/>
          </a:prstGeom>
          <a:solidFill>
            <a:srgbClr val="3D2BB0"/>
          </a:solidFill>
          <a:ln/>
        </p:spPr>
      </p:sp>
      <p:sp>
        <p:nvSpPr>
          <p:cNvPr id="3" name="Text 1"/>
          <p:cNvSpPr/>
          <p:nvPr/>
        </p:nvSpPr>
        <p:spPr>
          <a:xfrm>
            <a:off x="990600" y="990600"/>
            <a:ext cx="1472431" cy="390525"/>
          </a:xfrm>
          <a:prstGeom prst="rect">
            <a:avLst/>
          </a:prstGeom>
          <a:noFill/>
          <a:ln/>
        </p:spPr>
        <p:txBody>
          <a:bodyPr wrap="none" lIns="25400" tIns="25400" rIns="25400" bIns="25400" rtlCol="0" anchor="t">
            <a:normAutofit/>
          </a:bodyPr>
          <a:lstStyle/>
          <a:p>
            <a:pPr algn="l" indent="0" marL="0">
              <a:buNone/>
            </a:pPr>
            <a:r>
              <a:rPr lang="en-US" sz="2550" b="1" spc="51" kern="0" dirty="0">
                <a:solidFill>
                  <a:srgbClr val="1A1714"/>
                </a:solidFill>
                <a:latin typeface="Arial" pitchFamily="34" charset="0"/>
                <a:ea typeface="Arial" pitchFamily="34" charset="-122"/>
                <a:cs typeface="Arial" pitchFamily="34" charset="-120"/>
              </a:rPr>
              <a:t>2º - DAW</a:t>
            </a:r>
            <a:endParaRPr lang="en-US" sz="2550" dirty="0"/>
          </a:p>
        </p:txBody>
      </p:sp>
      <p:sp>
        <p:nvSpPr>
          <p:cNvPr id="4" name="Text 2"/>
          <p:cNvSpPr/>
          <p:nvPr/>
        </p:nvSpPr>
        <p:spPr>
          <a:xfrm>
            <a:off x="-274320" y="3276600"/>
            <a:ext cx="18836640" cy="3771900"/>
          </a:xfrm>
          <a:prstGeom prst="rect">
            <a:avLst/>
          </a:prstGeom>
          <a:noFill/>
          <a:ln/>
        </p:spPr>
        <p:txBody>
          <a:bodyPr wrap="none" lIns="25400" tIns="25400" rIns="25400" bIns="25400" rtlCol="0" anchor="t">
            <a:normAutofit/>
          </a:bodyPr>
          <a:lstStyle/>
          <a:p>
            <a:pPr algn="ctr" indent="0" marL="0">
              <a:lnSpc>
                <a:spcPct val="100000"/>
              </a:lnSpc>
              <a:buNone/>
            </a:pPr>
            <a:r>
              <a:rPr lang="en-US" sz="29400" b="1" spc="-882" kern="0" dirty="0">
                <a:solidFill>
                  <a:srgbClr val="EE3B0D"/>
                </a:solidFill>
                <a:latin typeface="Arial" pitchFamily="34" charset="0"/>
                <a:ea typeface="Arial" pitchFamily="34" charset="-122"/>
                <a:cs typeface="Arial" pitchFamily="34" charset="-120"/>
              </a:rPr>
              <a:t>GALERÍA</a:t>
            </a:r>
            <a:endParaRPr lang="en-US" sz="29400" dirty="0"/>
          </a:p>
        </p:txBody>
      </p:sp>
      <p:sp>
        <p:nvSpPr>
          <p:cNvPr id="5" name="Text 3"/>
          <p:cNvSpPr/>
          <p:nvPr/>
        </p:nvSpPr>
        <p:spPr>
          <a:xfrm>
            <a:off x="-274320" y="3740021"/>
            <a:ext cx="18836640" cy="2737098"/>
          </a:xfrm>
          <a:prstGeom prst="rect">
            <a:avLst/>
          </a:prstGeom>
          <a:noFill/>
          <a:ln/>
        </p:spPr>
        <p:txBody>
          <a:bodyPr wrap="square" lIns="25400" tIns="25400" rIns="25400" bIns="25400" rtlCol="0" anchor="t">
            <a:normAutofit/>
          </a:bodyPr>
          <a:lstStyle/>
          <a:p>
            <a:pPr algn="ctr" indent="0" marL="0">
              <a:lnSpc>
                <a:spcPct val="92000"/>
              </a:lnSpc>
              <a:buNone/>
            </a:pPr>
            <a:r>
              <a:rPr lang="en-US" sz="11550" b="1" spc="-231" kern="0" dirty="0">
                <a:solidFill>
                  <a:srgbClr val="1A1714"/>
                </a:solidFill>
                <a:latin typeface="Arial" pitchFamily="34" charset="0"/>
                <a:ea typeface="Arial" pitchFamily="34" charset="-122"/>
                <a:cs typeface="Arial" pitchFamily="34" charset="-120"/>
              </a:rPr>
              <a:t>PROYECTO DE FIN DE CURSO</a:t>
            </a:r>
            <a:endParaRPr lang="en-US" sz="11550" dirty="0"/>
          </a:p>
        </p:txBody>
      </p:sp>
      <p:sp>
        <p:nvSpPr>
          <p:cNvPr id="6" name="Text 4"/>
          <p:cNvSpPr/>
          <p:nvPr/>
        </p:nvSpPr>
        <p:spPr>
          <a:xfrm>
            <a:off x="990600" y="8601075"/>
            <a:ext cx="3353437" cy="423863"/>
          </a:xfrm>
          <a:prstGeom prst="rect">
            <a:avLst/>
          </a:prstGeom>
          <a:noFill/>
          <a:ln/>
        </p:spPr>
        <p:txBody>
          <a:bodyPr wrap="none" lIns="25400" tIns="25400" rIns="25400" bIns="25400" rtlCol="0" anchor="t">
            <a:normAutofit/>
          </a:bodyPr>
          <a:lstStyle/>
          <a:p>
            <a:pPr algn="l" indent="0" marL="0">
              <a:lnSpc>
                <a:spcPct val="135000"/>
              </a:lnSpc>
              <a:buNone/>
            </a:pPr>
            <a:r>
              <a:rPr lang="en-US" sz="2250" dirty="0">
                <a:solidFill>
                  <a:srgbClr val="1A1714"/>
                </a:solidFill>
                <a:latin typeface="Arial" pitchFamily="34" charset="0"/>
                <a:ea typeface="Arial" pitchFamily="34" charset="-122"/>
                <a:cs typeface="Arial" pitchFamily="34" charset="-120"/>
              </a:rPr>
              <a:t>Un proyecto de:</a:t>
            </a:r>
            <a:endParaRPr lang="en-US" sz="2250" dirty="0"/>
          </a:p>
        </p:txBody>
      </p:sp>
      <p:sp>
        <p:nvSpPr>
          <p:cNvPr id="7" name="Text 5"/>
          <p:cNvSpPr/>
          <p:nvPr/>
        </p:nvSpPr>
        <p:spPr>
          <a:xfrm>
            <a:off x="990600" y="8986838"/>
            <a:ext cx="3353437" cy="423863"/>
          </a:xfrm>
          <a:prstGeom prst="rect">
            <a:avLst/>
          </a:prstGeom>
          <a:noFill/>
          <a:ln/>
        </p:spPr>
        <p:txBody>
          <a:bodyPr wrap="none" lIns="25400" tIns="25400" rIns="25400" bIns="25400" rtlCol="0" anchor="t">
            <a:normAutofit/>
          </a:bodyPr>
          <a:lstStyle/>
          <a:p>
            <a:pPr algn="l" indent="0" marL="0">
              <a:lnSpc>
                <a:spcPct val="135000"/>
              </a:lnSpc>
              <a:buNone/>
            </a:pPr>
            <a:r>
              <a:rPr lang="en-US" sz="2250" b="1" dirty="0">
                <a:solidFill>
                  <a:srgbClr val="1A1714"/>
                </a:solidFill>
                <a:latin typeface="Arial" pitchFamily="34" charset="0"/>
                <a:ea typeface="Arial" pitchFamily="34" charset="-122"/>
                <a:cs typeface="Arial" pitchFamily="34" charset="-120"/>
              </a:rPr>
              <a:t>Pelayo Prieto Calderón</a:t>
            </a:r>
            <a:endParaRPr lang="en-US" sz="2250" dirty="0"/>
          </a:p>
        </p:txBody>
      </p:sp>
      <p:sp>
        <p:nvSpPr>
          <p:cNvPr id="8" name="Text 6"/>
          <p:cNvSpPr/>
          <p:nvPr/>
        </p:nvSpPr>
        <p:spPr>
          <a:xfrm>
            <a:off x="15398874" y="9058275"/>
            <a:ext cx="1974726" cy="352425"/>
          </a:xfrm>
          <a:prstGeom prst="rect">
            <a:avLst/>
          </a:prstGeom>
          <a:noFill/>
          <a:ln/>
        </p:spPr>
        <p:txBody>
          <a:bodyPr wrap="square" lIns="25400" tIns="25400" rIns="25400" bIns="25400" rtlCol="0" anchor="t">
            <a:normAutofit/>
          </a:bodyPr>
          <a:lstStyle/>
          <a:p>
            <a:pPr algn="l" indent="0" marL="0">
              <a:buNone/>
            </a:pPr>
            <a:r>
              <a:rPr lang="en-US" sz="2250" dirty="0">
                <a:solidFill>
                  <a:srgbClr val="1A1714"/>
                </a:solidFill>
                <a:latin typeface="Arial" pitchFamily="34" charset="0"/>
                <a:ea typeface="Arial" pitchFamily="34" charset="-122"/>
                <a:cs typeface="Arial" pitchFamily="34" charset="-120"/>
              </a:rPr>
              <a:t>12 Junio, 2026</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DE7"/>
        </a:solidFill>
      </p:bgPr>
    </p:bg>
    <p:spTree>
      <p:nvGrpSpPr>
        <p:cNvPr id="1" name=""/>
        <p:cNvGrpSpPr/>
        <p:nvPr/>
      </p:nvGrpSpPr>
      <p:grpSpPr>
        <a:xfrm>
          <a:off x="0" y="0"/>
          <a:ext cx="0" cy="0"/>
          <a:chOff x="0" y="0"/>
          <a:chExt cx="0" cy="0"/>
        </a:xfrm>
      </p:grpSpPr>
      <p:sp>
        <p:nvSpPr>
          <p:cNvPr id="2" name="Shape 0"/>
          <p:cNvSpPr/>
          <p:nvPr/>
        </p:nvSpPr>
        <p:spPr>
          <a:xfrm>
            <a:off x="0" y="0"/>
            <a:ext cx="18288000" cy="66675"/>
          </a:xfrm>
          <a:prstGeom prst="rect">
            <a:avLst/>
          </a:prstGeom>
          <a:solidFill>
            <a:srgbClr val="3D2BB0"/>
          </a:solidFill>
          <a:ln/>
        </p:spPr>
      </p:sp>
      <p:sp>
        <p:nvSpPr>
          <p:cNvPr id="3" name="Text 1"/>
          <p:cNvSpPr/>
          <p:nvPr/>
        </p:nvSpPr>
        <p:spPr>
          <a:xfrm>
            <a:off x="990600" y="590550"/>
            <a:ext cx="460549"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EE3B0D"/>
                </a:solidFill>
                <a:latin typeface="Arial" pitchFamily="34" charset="0"/>
                <a:ea typeface="Arial" pitchFamily="34" charset="-122"/>
                <a:cs typeface="Arial" pitchFamily="34" charset="-120"/>
              </a:rPr>
              <a:t>02</a:t>
            </a:r>
            <a:endParaRPr lang="en-US" sz="1875" dirty="0"/>
          </a:p>
        </p:txBody>
      </p:sp>
      <p:sp>
        <p:nvSpPr>
          <p:cNvPr id="4" name="Text 2"/>
          <p:cNvSpPr/>
          <p:nvPr/>
        </p:nvSpPr>
        <p:spPr>
          <a:xfrm>
            <a:off x="1546399" y="590550"/>
            <a:ext cx="2196480"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1A1714"/>
                </a:solidFill>
                <a:latin typeface="Arial" pitchFamily="34" charset="0"/>
                <a:ea typeface="Arial" pitchFamily="34" charset="-122"/>
                <a:cs typeface="Arial" pitchFamily="34" charset="-120"/>
              </a:rPr>
              <a:t>EL PROYECTO</a:t>
            </a:r>
            <a:endParaRPr lang="en-US" sz="1875" dirty="0"/>
          </a:p>
        </p:txBody>
      </p:sp>
      <p:sp>
        <p:nvSpPr>
          <p:cNvPr id="5" name="Text 3"/>
          <p:cNvSpPr/>
          <p:nvPr/>
        </p:nvSpPr>
        <p:spPr>
          <a:xfrm>
            <a:off x="990600" y="1600200"/>
            <a:ext cx="16796004" cy="1720453"/>
          </a:xfrm>
          <a:prstGeom prst="rect">
            <a:avLst/>
          </a:prstGeom>
          <a:noFill/>
          <a:ln/>
        </p:spPr>
        <p:txBody>
          <a:bodyPr wrap="square" lIns="25400" tIns="25400" rIns="25400" bIns="25400" rtlCol="0" anchor="t">
            <a:normAutofit/>
          </a:bodyPr>
          <a:lstStyle/>
          <a:p>
            <a:pPr algn="l" indent="0" marL="0">
              <a:lnSpc>
                <a:spcPct val="96000"/>
              </a:lnSpc>
              <a:buNone/>
            </a:pPr>
            <a:r>
              <a:rPr lang="en-US" sz="6900" b="1" spc="-152" kern="0" dirty="0">
                <a:solidFill>
                  <a:srgbClr val="1A1714"/>
                </a:solidFill>
                <a:latin typeface="Arial" pitchFamily="34" charset="0"/>
                <a:ea typeface="Arial" pitchFamily="34" charset="-122"/>
                <a:cs typeface="Arial" pitchFamily="34" charset="-120"/>
              </a:rPr>
              <a:t>Una galería digital para el IES Bernaldo de Quirós</a:t>
            </a:r>
            <a:endParaRPr lang="en-US" sz="6900" dirty="0"/>
          </a:p>
        </p:txBody>
      </p:sp>
      <p:sp>
        <p:nvSpPr>
          <p:cNvPr id="6" name="Text 4"/>
          <p:cNvSpPr/>
          <p:nvPr/>
        </p:nvSpPr>
        <p:spPr>
          <a:xfrm>
            <a:off x="990600" y="3568450"/>
            <a:ext cx="11576685" cy="892969"/>
          </a:xfrm>
          <a:prstGeom prst="rect">
            <a:avLst/>
          </a:prstGeom>
          <a:noFill/>
          <a:ln/>
        </p:spPr>
        <p:txBody>
          <a:bodyPr wrap="square" lIns="25400" tIns="25400" rIns="25400" bIns="25400" rtlCol="0" anchor="t">
            <a:normAutofit/>
          </a:bodyPr>
          <a:lstStyle/>
          <a:p>
            <a:pPr algn="l" indent="0" marL="0">
              <a:lnSpc>
                <a:spcPct val="132000"/>
              </a:lnSpc>
              <a:buNone/>
            </a:pPr>
            <a:r>
              <a:rPr lang="en-US" sz="2550" dirty="0">
                <a:solidFill>
                  <a:srgbClr val="6E665E"/>
                </a:solidFill>
                <a:latin typeface="Arial" pitchFamily="34" charset="0"/>
                <a:ea typeface="Arial" pitchFamily="34" charset="-122"/>
                <a:cs typeface="Arial" pitchFamily="34" charset="-120"/>
              </a:rPr>
              <a:t>Una aplicación web </a:t>
            </a:r>
            <a:pPr algn="l" indent="0" marL="0">
              <a:lnSpc>
                <a:spcPct val="132000"/>
              </a:lnSpc>
              <a:buNone/>
            </a:pPr>
            <a:r>
              <a:rPr lang="en-US" sz="2550" b="1" dirty="0">
                <a:solidFill>
                  <a:srgbClr val="1A1714"/>
                </a:solidFill>
                <a:latin typeface="Arial" pitchFamily="34" charset="0"/>
                <a:ea typeface="Arial" pitchFamily="34" charset="-122"/>
                <a:cs typeface="Arial" pitchFamily="34" charset="-120"/>
              </a:rPr>
              <a:t>full stack</a:t>
            </a:r>
            <a:pPr algn="l" indent="0" marL="0">
              <a:lnSpc>
                <a:spcPct val="132000"/>
              </a:lnSpc>
              <a:buNone/>
            </a:pPr>
            <a:r>
              <a:rPr lang="en-US" sz="2550" dirty="0">
                <a:solidFill>
                  <a:srgbClr val="6E665E"/>
                </a:solidFill>
                <a:latin typeface="Arial" pitchFamily="34" charset="0"/>
                <a:ea typeface="Arial" pitchFamily="34" charset="-122"/>
                <a:cs typeface="Arial" pitchFamily="34" charset="-120"/>
              </a:rPr>
              <a:t>: </a:t>
            </a:r>
            <a:pPr algn="l" indent="0" marL="0">
              <a:lnSpc>
                <a:spcPct val="132000"/>
              </a:lnSpc>
              <a:buNone/>
            </a:pPr>
            <a:r>
              <a:rPr lang="en-US" sz="2550" b="1" dirty="0">
                <a:solidFill>
                  <a:srgbClr val="1A1714"/>
                </a:solidFill>
                <a:latin typeface="Arial" pitchFamily="34" charset="0"/>
                <a:ea typeface="Arial" pitchFamily="34" charset="-122"/>
                <a:cs typeface="Arial" pitchFamily="34" charset="-120"/>
              </a:rPr>
              <a:t>Spring Boot + MySQL </a:t>
            </a:r>
            <a:pPr algn="l" indent="0" marL="0">
              <a:lnSpc>
                <a:spcPct val="132000"/>
              </a:lnSpc>
              <a:buNone/>
            </a:pPr>
            <a:r>
              <a:rPr lang="en-US" sz="2550" dirty="0">
                <a:solidFill>
                  <a:srgbClr val="6E665E"/>
                </a:solidFill>
                <a:latin typeface="Arial" pitchFamily="34" charset="0"/>
                <a:ea typeface="Arial" pitchFamily="34" charset="-122"/>
                <a:cs typeface="Arial" pitchFamily="34" charset="-120"/>
              </a:rPr>
              <a:t>en el servidor y </a:t>
            </a:r>
            <a:pPr algn="l" indent="0" marL="0">
              <a:lnSpc>
                <a:spcPct val="132000"/>
              </a:lnSpc>
              <a:buNone/>
            </a:pPr>
            <a:r>
              <a:rPr lang="en-US" sz="2550" b="1" dirty="0">
                <a:solidFill>
                  <a:srgbClr val="1A1714"/>
                </a:solidFill>
                <a:latin typeface="Arial" pitchFamily="34" charset="0"/>
                <a:ea typeface="Arial" pitchFamily="34" charset="-122"/>
                <a:cs typeface="Arial" pitchFamily="34" charset="-120"/>
              </a:rPr>
              <a:t>Angular </a:t>
            </a:r>
            <a:pPr algn="l" indent="0" marL="0">
              <a:lnSpc>
                <a:spcPct val="132000"/>
              </a:lnSpc>
              <a:buNone/>
            </a:pPr>
            <a:r>
              <a:rPr lang="en-US" sz="2550" dirty="0">
                <a:solidFill>
                  <a:srgbClr val="6E665E"/>
                </a:solidFill>
                <a:latin typeface="Arial" pitchFamily="34" charset="0"/>
                <a:ea typeface="Arial" pitchFamily="34" charset="-122"/>
                <a:cs typeface="Arial" pitchFamily="34" charset="-120"/>
              </a:rPr>
              <a:t>en el cliente. Tiene dos caras.</a:t>
            </a:r>
            <a:endParaRPr lang="en-US" sz="2550" dirty="0"/>
          </a:p>
        </p:txBody>
      </p:sp>
      <p:sp>
        <p:nvSpPr>
          <p:cNvPr id="7" name="Shape 5"/>
          <p:cNvSpPr/>
          <p:nvPr/>
        </p:nvSpPr>
        <p:spPr>
          <a:xfrm>
            <a:off x="990600" y="4864628"/>
            <a:ext cx="7962900" cy="3143250"/>
          </a:xfrm>
          <a:prstGeom prst="roundRect">
            <a:avLst>
              <a:gd name="adj" fmla="val 3636"/>
            </a:avLst>
          </a:prstGeom>
          <a:solidFill>
            <a:srgbClr val="1A1714">
              <a:alpha val="4000"/>
            </a:srgbClr>
          </a:solidFill>
          <a:ln/>
        </p:spPr>
      </p:sp>
      <p:pic>
        <p:nvPicPr>
          <p:cNvPr id="8" name="Image 0" descr="preencoded.png">    </p:cNvPr>
          <p:cNvPicPr>
            <a:picLocks noChangeAspect="1"/>
          </p:cNvPicPr>
          <p:nvPr/>
        </p:nvPicPr>
        <p:blipFill>
          <a:blip r:embed="rId1"/>
          <a:srcRect l="0" r="0" t="8666" b="8666"/>
          <a:stretch/>
        </p:blipFill>
        <p:spPr>
          <a:xfrm>
            <a:off x="990600" y="4864628"/>
            <a:ext cx="7962900" cy="3143250"/>
          </a:xfrm>
          <a:prstGeom prst="rect">
            <a:avLst/>
          </a:prstGeom>
        </p:spPr>
      </p:pic>
      <p:sp>
        <p:nvSpPr>
          <p:cNvPr id="9" name="Shape 6"/>
          <p:cNvSpPr/>
          <p:nvPr/>
        </p:nvSpPr>
        <p:spPr>
          <a:xfrm>
            <a:off x="990600" y="8231716"/>
            <a:ext cx="171450" cy="171450"/>
          </a:xfrm>
          <a:prstGeom prst="ellipse">
            <a:avLst/>
          </a:prstGeom>
          <a:solidFill>
            <a:srgbClr val="EE3B0D"/>
          </a:solidFill>
          <a:ln/>
        </p:spPr>
      </p:sp>
      <p:sp>
        <p:nvSpPr>
          <p:cNvPr id="10" name="Text 7"/>
          <p:cNvSpPr/>
          <p:nvPr/>
        </p:nvSpPr>
        <p:spPr>
          <a:xfrm>
            <a:off x="1295400" y="8179328"/>
            <a:ext cx="1750219" cy="314325"/>
          </a:xfrm>
          <a:prstGeom prst="rect">
            <a:avLst/>
          </a:prstGeom>
          <a:noFill/>
          <a:ln/>
        </p:spPr>
        <p:txBody>
          <a:bodyPr wrap="square" lIns="0" tIns="0" rIns="0" bIns="0" rtlCol="0" anchor="t">
            <a:normAutofit/>
          </a:bodyPr>
          <a:lstStyle/>
          <a:p>
            <a:pPr algn="l" indent="0" marL="0">
              <a:buNone/>
            </a:pPr>
            <a:r>
              <a:rPr lang="en-US" sz="2025" b="1" spc="41" kern="0" dirty="0">
                <a:solidFill>
                  <a:srgbClr val="1A1714"/>
                </a:solidFill>
                <a:latin typeface="Arial" pitchFamily="34" charset="0"/>
                <a:ea typeface="Arial" pitchFamily="34" charset="-122"/>
                <a:cs typeface="Arial" pitchFamily="34" charset="-120"/>
              </a:rPr>
              <a:t>Cara pública</a:t>
            </a:r>
            <a:endParaRPr lang="en-US" sz="2025" dirty="0"/>
          </a:p>
        </p:txBody>
      </p:sp>
      <p:sp>
        <p:nvSpPr>
          <p:cNvPr id="11" name="Text 8"/>
          <p:cNvSpPr/>
          <p:nvPr/>
        </p:nvSpPr>
        <p:spPr>
          <a:xfrm>
            <a:off x="990600" y="8627003"/>
            <a:ext cx="8201787"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E665E"/>
                </a:solidFill>
                <a:latin typeface="Arial" pitchFamily="34" charset="0"/>
                <a:ea typeface="Arial" pitchFamily="34" charset="-122"/>
                <a:cs typeface="Arial" pitchFamily="34" charset="-120"/>
              </a:rPr>
              <a:t>Abierta a cualquier visitante: ver y buscar las obras del instituto.</a:t>
            </a:r>
            <a:endParaRPr lang="en-US" sz="1875" dirty="0"/>
          </a:p>
        </p:txBody>
      </p:sp>
      <p:sp>
        <p:nvSpPr>
          <p:cNvPr id="12" name="Shape 9"/>
          <p:cNvSpPr/>
          <p:nvPr/>
        </p:nvSpPr>
        <p:spPr>
          <a:xfrm>
            <a:off x="9334500" y="4864628"/>
            <a:ext cx="7962900" cy="3143250"/>
          </a:xfrm>
          <a:prstGeom prst="roundRect">
            <a:avLst>
              <a:gd name="adj" fmla="val 3636"/>
            </a:avLst>
          </a:prstGeom>
          <a:solidFill>
            <a:srgbClr val="1A1714">
              <a:alpha val="4000"/>
            </a:srgbClr>
          </a:solidFill>
          <a:ln/>
        </p:spPr>
      </p:sp>
      <p:pic>
        <p:nvPicPr>
          <p:cNvPr id="13" name="Image 1" descr="preencoded.png">    </p:cNvPr>
          <p:cNvPicPr>
            <a:picLocks noChangeAspect="1"/>
          </p:cNvPicPr>
          <p:nvPr/>
        </p:nvPicPr>
        <p:blipFill>
          <a:blip r:embed="rId2"/>
          <a:srcRect l="0" r="0" t="20321" b="20321"/>
          <a:stretch/>
        </p:blipFill>
        <p:spPr>
          <a:xfrm>
            <a:off x="9334500" y="4864628"/>
            <a:ext cx="7962900" cy="3143250"/>
          </a:xfrm>
          <a:prstGeom prst="rect">
            <a:avLst/>
          </a:prstGeom>
        </p:spPr>
      </p:pic>
      <p:sp>
        <p:nvSpPr>
          <p:cNvPr id="14" name="Shape 10"/>
          <p:cNvSpPr/>
          <p:nvPr/>
        </p:nvSpPr>
        <p:spPr>
          <a:xfrm>
            <a:off x="9334500" y="8231716"/>
            <a:ext cx="171450" cy="171450"/>
          </a:xfrm>
          <a:prstGeom prst="ellipse">
            <a:avLst/>
          </a:prstGeom>
          <a:solidFill>
            <a:srgbClr val="1A1714"/>
          </a:solidFill>
          <a:ln/>
        </p:spPr>
      </p:sp>
      <p:sp>
        <p:nvSpPr>
          <p:cNvPr id="15" name="Text 11"/>
          <p:cNvSpPr/>
          <p:nvPr/>
        </p:nvSpPr>
        <p:spPr>
          <a:xfrm>
            <a:off x="9639300" y="8179328"/>
            <a:ext cx="1766367" cy="314325"/>
          </a:xfrm>
          <a:prstGeom prst="rect">
            <a:avLst/>
          </a:prstGeom>
          <a:noFill/>
          <a:ln/>
        </p:spPr>
        <p:txBody>
          <a:bodyPr wrap="square" lIns="0" tIns="0" rIns="0" bIns="0" rtlCol="0" anchor="t">
            <a:normAutofit/>
          </a:bodyPr>
          <a:lstStyle/>
          <a:p>
            <a:pPr algn="l" indent="0" marL="0">
              <a:buNone/>
            </a:pPr>
            <a:r>
              <a:rPr lang="en-US" sz="2025" b="1" spc="41" kern="0" dirty="0">
                <a:solidFill>
                  <a:srgbClr val="1A1714"/>
                </a:solidFill>
                <a:latin typeface="Arial" pitchFamily="34" charset="0"/>
                <a:ea typeface="Arial" pitchFamily="34" charset="-122"/>
                <a:cs typeface="Arial" pitchFamily="34" charset="-120"/>
              </a:rPr>
              <a:t>Cara privada</a:t>
            </a:r>
            <a:endParaRPr lang="en-US" sz="2025" dirty="0"/>
          </a:p>
        </p:txBody>
      </p:sp>
      <p:sp>
        <p:nvSpPr>
          <p:cNvPr id="16" name="Text 12"/>
          <p:cNvSpPr/>
          <p:nvPr/>
        </p:nvSpPr>
        <p:spPr>
          <a:xfrm>
            <a:off x="9334500" y="8627003"/>
            <a:ext cx="8201787"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E665E"/>
                </a:solidFill>
                <a:latin typeface="Arial" pitchFamily="34" charset="0"/>
                <a:ea typeface="Arial" pitchFamily="34" charset="-122"/>
                <a:cs typeface="Arial" pitchFamily="34" charset="-120"/>
              </a:rPr>
              <a:t>Panel protegido con contraseña: alta, edición y borrado de obras.</a:t>
            </a:r>
            <a:endParaRPr lang="en-US" sz="1875" dirty="0"/>
          </a:p>
        </p:txBody>
      </p:sp>
      <p:sp>
        <p:nvSpPr>
          <p:cNvPr id="17" name="Text 13"/>
          <p:cNvSpPr/>
          <p:nvPr/>
        </p:nvSpPr>
        <p:spPr>
          <a:xfrm>
            <a:off x="990600" y="9525000"/>
            <a:ext cx="4301631" cy="2857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6E665E"/>
                </a:solidFill>
                <a:latin typeface="Arial" pitchFamily="34" charset="0"/>
                <a:ea typeface="Arial" pitchFamily="34" charset="-122"/>
                <a:cs typeface="Arial" pitchFamily="34" charset="-120"/>
              </a:rPr>
              <a:t>Galería digital · IES Bernaldo de Quirós</a:t>
            </a:r>
            <a:endParaRPr lang="en-US" sz="1800" dirty="0"/>
          </a:p>
        </p:txBody>
      </p:sp>
      <p:sp>
        <p:nvSpPr>
          <p:cNvPr id="18" name="Text 14"/>
          <p:cNvSpPr/>
          <p:nvPr/>
        </p:nvSpPr>
        <p:spPr>
          <a:xfrm>
            <a:off x="16575658" y="9525000"/>
            <a:ext cx="797942" cy="28575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1A1714"/>
                </a:solidFill>
                <a:latin typeface="Arial" pitchFamily="34" charset="0"/>
                <a:ea typeface="Arial" pitchFamily="34" charset="-122"/>
                <a:cs typeface="Arial" pitchFamily="34" charset="-120"/>
              </a:rPr>
              <a:t>02 </a:t>
            </a:r>
            <a:pPr algn="l" indent="0" marL="0">
              <a:buNone/>
            </a:pPr>
            <a:r>
              <a:rPr lang="en-US" sz="1800" spc="36" kern="0" dirty="0">
                <a:solidFill>
                  <a:srgbClr val="6E665E"/>
                </a:solidFill>
                <a:latin typeface="Arial" pitchFamily="34" charset="0"/>
                <a:ea typeface="Arial" pitchFamily="34" charset="-122"/>
                <a:cs typeface="Arial" pitchFamily="34" charset="-120"/>
              </a:rPr>
              <a:t>/ 15</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DE7"/>
        </a:solidFill>
      </p:bgPr>
    </p:bg>
    <p:spTree>
      <p:nvGrpSpPr>
        <p:cNvPr id="1" name=""/>
        <p:cNvGrpSpPr/>
        <p:nvPr/>
      </p:nvGrpSpPr>
      <p:grpSpPr>
        <a:xfrm>
          <a:off x="0" y="0"/>
          <a:ext cx="0" cy="0"/>
          <a:chOff x="0" y="0"/>
          <a:chExt cx="0" cy="0"/>
        </a:xfrm>
      </p:grpSpPr>
      <p:sp>
        <p:nvSpPr>
          <p:cNvPr id="2" name="Shape 0"/>
          <p:cNvSpPr/>
          <p:nvPr/>
        </p:nvSpPr>
        <p:spPr>
          <a:xfrm>
            <a:off x="0" y="0"/>
            <a:ext cx="18288000" cy="66675"/>
          </a:xfrm>
          <a:prstGeom prst="rect">
            <a:avLst/>
          </a:prstGeom>
          <a:solidFill>
            <a:srgbClr val="3D2BB0"/>
          </a:solidFill>
          <a:ln/>
        </p:spPr>
      </p:sp>
      <p:sp>
        <p:nvSpPr>
          <p:cNvPr id="3" name="Text 1"/>
          <p:cNvSpPr/>
          <p:nvPr/>
        </p:nvSpPr>
        <p:spPr>
          <a:xfrm>
            <a:off x="990600" y="590550"/>
            <a:ext cx="460549"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EE3B0D"/>
                </a:solidFill>
                <a:latin typeface="Arial" pitchFamily="34" charset="0"/>
                <a:ea typeface="Arial" pitchFamily="34" charset="-122"/>
                <a:cs typeface="Arial" pitchFamily="34" charset="-120"/>
              </a:rPr>
              <a:t>03</a:t>
            </a:r>
            <a:endParaRPr lang="en-US" sz="1875" dirty="0"/>
          </a:p>
        </p:txBody>
      </p:sp>
      <p:sp>
        <p:nvSpPr>
          <p:cNvPr id="4" name="Text 2"/>
          <p:cNvSpPr/>
          <p:nvPr/>
        </p:nvSpPr>
        <p:spPr>
          <a:xfrm>
            <a:off x="1546399" y="590550"/>
            <a:ext cx="4689155"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1A1714"/>
                </a:solidFill>
                <a:latin typeface="Arial" pitchFamily="34" charset="0"/>
                <a:ea typeface="Arial" pitchFamily="34" charset="-122"/>
                <a:cs typeface="Arial" pitchFamily="34" charset="-120"/>
              </a:rPr>
              <a:t>EL PROBLEMA QUE RESUELVE</a:t>
            </a:r>
            <a:endParaRPr lang="en-US" sz="1875" dirty="0"/>
          </a:p>
        </p:txBody>
      </p:sp>
      <p:sp>
        <p:nvSpPr>
          <p:cNvPr id="5" name="Text 3"/>
          <p:cNvSpPr/>
          <p:nvPr/>
        </p:nvSpPr>
        <p:spPr>
          <a:xfrm>
            <a:off x="990600" y="2253779"/>
            <a:ext cx="7886847" cy="1720453"/>
          </a:xfrm>
          <a:prstGeom prst="rect">
            <a:avLst/>
          </a:prstGeom>
          <a:noFill/>
          <a:ln/>
        </p:spPr>
        <p:txBody>
          <a:bodyPr wrap="square" lIns="25400" tIns="25400" rIns="25400" bIns="25400" rtlCol="0" anchor="t">
            <a:normAutofit/>
          </a:bodyPr>
          <a:lstStyle/>
          <a:p>
            <a:pPr algn="l" indent="0" marL="0">
              <a:lnSpc>
                <a:spcPct val="96000"/>
              </a:lnSpc>
              <a:buNone/>
            </a:pPr>
            <a:r>
              <a:rPr lang="en-US" sz="6900" b="1" spc="-152" kern="0" dirty="0">
                <a:solidFill>
                  <a:srgbClr val="1A1714"/>
                </a:solidFill>
                <a:latin typeface="Arial" pitchFamily="34" charset="0"/>
                <a:ea typeface="Arial" pitchFamily="34" charset="-122"/>
                <a:cs typeface="Arial" pitchFamily="34" charset="-120"/>
              </a:rPr>
              <a:t>Hoy el catálogo vive en un </a:t>
            </a:r>
            <a:pPr algn="l" indent="0" marL="0">
              <a:lnSpc>
                <a:spcPct val="96000"/>
              </a:lnSpc>
              <a:buNone/>
            </a:pPr>
            <a:r>
              <a:rPr lang="en-US" sz="6900" b="1" spc="-152" kern="0" dirty="0">
                <a:solidFill>
                  <a:srgbClr val="EE3B0D"/>
                </a:solidFill>
                <a:latin typeface="Arial" pitchFamily="34" charset="0"/>
                <a:ea typeface="Arial" pitchFamily="34" charset="-122"/>
                <a:cs typeface="Arial" pitchFamily="34" charset="-120"/>
              </a:rPr>
              <a:t>PDF</a:t>
            </a:r>
            <a:endParaRPr lang="en-US" sz="6900" dirty="0"/>
          </a:p>
        </p:txBody>
      </p:sp>
      <p:sp>
        <p:nvSpPr>
          <p:cNvPr id="6" name="Text 4"/>
          <p:cNvSpPr/>
          <p:nvPr/>
        </p:nvSpPr>
        <p:spPr>
          <a:xfrm>
            <a:off x="990600" y="4298133"/>
            <a:ext cx="1241152"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16" kern="0" dirty="0">
                <a:solidFill>
                  <a:srgbClr val="EE3B0D"/>
                </a:solidFill>
                <a:latin typeface="Arial" pitchFamily="34" charset="0"/>
                <a:ea typeface="Arial" pitchFamily="34" charset="-122"/>
                <a:cs typeface="Arial" pitchFamily="34" charset="-120"/>
              </a:rPr>
              <a:t>42</a:t>
            </a:r>
            <a:endParaRPr lang="en-US" sz="7200" dirty="0"/>
          </a:p>
        </p:txBody>
      </p:sp>
      <p:sp>
        <p:nvSpPr>
          <p:cNvPr id="7" name="Text 5"/>
          <p:cNvSpPr/>
          <p:nvPr/>
        </p:nvSpPr>
        <p:spPr>
          <a:xfrm>
            <a:off x="990600" y="5269683"/>
            <a:ext cx="1241152" cy="285750"/>
          </a:xfrm>
          <a:prstGeom prst="rect">
            <a:avLst/>
          </a:prstGeom>
          <a:noFill/>
          <a:ln/>
        </p:spPr>
        <p:txBody>
          <a:bodyPr wrap="square" lIns="25400" tIns="25400" rIns="25400" bIns="25400" rtlCol="0" anchor="t">
            <a:normAutofit/>
          </a:bodyPr>
          <a:lstStyle/>
          <a:p>
            <a:pPr algn="l" indent="0" marL="0">
              <a:buNone/>
            </a:pPr>
            <a:r>
              <a:rPr lang="en-US" sz="1800" b="1" dirty="0">
                <a:solidFill>
                  <a:srgbClr val="6E665E"/>
                </a:solidFill>
                <a:latin typeface="Arial" pitchFamily="34" charset="0"/>
                <a:ea typeface="Arial" pitchFamily="34" charset="-122"/>
                <a:cs typeface="Arial" pitchFamily="34" charset="-120"/>
              </a:rPr>
              <a:t>páginas</a:t>
            </a:r>
            <a:endParaRPr lang="en-US" sz="1800" dirty="0"/>
          </a:p>
        </p:txBody>
      </p:sp>
      <p:sp>
        <p:nvSpPr>
          <p:cNvPr id="8" name="Text 6"/>
          <p:cNvSpPr/>
          <p:nvPr/>
        </p:nvSpPr>
        <p:spPr>
          <a:xfrm>
            <a:off x="2765152" y="4298133"/>
            <a:ext cx="2399705"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16" kern="0" dirty="0">
                <a:solidFill>
                  <a:srgbClr val="EE3B0D"/>
                </a:solidFill>
                <a:latin typeface="Arial" pitchFamily="34" charset="0"/>
                <a:ea typeface="Arial" pitchFamily="34" charset="-122"/>
                <a:cs typeface="Arial" pitchFamily="34" charset="-120"/>
              </a:rPr>
              <a:t>+250</a:t>
            </a:r>
            <a:endParaRPr lang="en-US" sz="7200" dirty="0"/>
          </a:p>
        </p:txBody>
      </p:sp>
      <p:sp>
        <p:nvSpPr>
          <p:cNvPr id="9" name="Text 7"/>
          <p:cNvSpPr/>
          <p:nvPr/>
        </p:nvSpPr>
        <p:spPr>
          <a:xfrm>
            <a:off x="2765152" y="5269683"/>
            <a:ext cx="2399705" cy="285750"/>
          </a:xfrm>
          <a:prstGeom prst="rect">
            <a:avLst/>
          </a:prstGeom>
          <a:noFill/>
          <a:ln/>
        </p:spPr>
        <p:txBody>
          <a:bodyPr wrap="square" lIns="25400" tIns="25400" rIns="25400" bIns="25400" rtlCol="0" anchor="t">
            <a:normAutofit/>
          </a:bodyPr>
          <a:lstStyle/>
          <a:p>
            <a:pPr algn="l" indent="0" marL="0">
              <a:buNone/>
            </a:pPr>
            <a:r>
              <a:rPr lang="en-US" sz="1800" b="1" dirty="0">
                <a:solidFill>
                  <a:srgbClr val="6E665E"/>
                </a:solidFill>
                <a:latin typeface="Arial" pitchFamily="34" charset="0"/>
                <a:ea typeface="Arial" pitchFamily="34" charset="-122"/>
                <a:cs typeface="Arial" pitchFamily="34" charset="-120"/>
              </a:rPr>
              <a:t>obras</a:t>
            </a:r>
            <a:endParaRPr lang="en-US" sz="1800" dirty="0"/>
          </a:p>
        </p:txBody>
      </p:sp>
      <p:sp>
        <p:nvSpPr>
          <p:cNvPr id="10" name="Text 8"/>
          <p:cNvSpPr/>
          <p:nvPr/>
        </p:nvSpPr>
        <p:spPr>
          <a:xfrm>
            <a:off x="990600" y="5900997"/>
            <a:ext cx="68580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EE3B0D"/>
                </a:solidFill>
                <a:latin typeface="Arial" pitchFamily="34" charset="0"/>
                <a:ea typeface="Arial" pitchFamily="34" charset="-122"/>
                <a:cs typeface="Arial" pitchFamily="34" charset="-120"/>
              </a:rPr>
              <a:t>·</a:t>
            </a:r>
            <a:endParaRPr lang="en-US" sz="2250" dirty="0"/>
          </a:p>
        </p:txBody>
      </p:sp>
      <p:sp>
        <p:nvSpPr>
          <p:cNvPr id="11" name="Text 9"/>
          <p:cNvSpPr/>
          <p:nvPr/>
        </p:nvSpPr>
        <p:spPr>
          <a:xfrm>
            <a:off x="1847850" y="5910522"/>
            <a:ext cx="2606278" cy="352425"/>
          </a:xfrm>
          <a:prstGeom prst="rect">
            <a:avLst/>
          </a:prstGeom>
          <a:noFill/>
          <a:ln/>
        </p:spPr>
        <p:txBody>
          <a:bodyPr wrap="square" lIns="0" tIns="0" rIns="0" bIns="0" rtlCol="0" anchor="t">
            <a:normAutofit/>
          </a:bodyPr>
          <a:lstStyle/>
          <a:p>
            <a:pPr algn="l" indent="0" marL="0">
              <a:lnSpc>
                <a:spcPct val="118000"/>
              </a:lnSpc>
              <a:buNone/>
            </a:pPr>
            <a:r>
              <a:rPr lang="en-US" sz="2250" b="1" dirty="0">
                <a:solidFill>
                  <a:srgbClr val="1A1714"/>
                </a:solidFill>
                <a:latin typeface="Arial" pitchFamily="34" charset="0"/>
                <a:ea typeface="Arial" pitchFamily="34" charset="-122"/>
                <a:cs typeface="Arial" pitchFamily="34" charset="-120"/>
              </a:rPr>
              <a:t>Difícil de mantener</a:t>
            </a:r>
            <a:endParaRPr lang="en-US" sz="2250" dirty="0"/>
          </a:p>
        </p:txBody>
      </p:sp>
      <p:sp>
        <p:nvSpPr>
          <p:cNvPr id="12" name="Text 10"/>
          <p:cNvSpPr/>
          <p:nvPr/>
        </p:nvSpPr>
        <p:spPr>
          <a:xfrm>
            <a:off x="1847850" y="6304842"/>
            <a:ext cx="7003879"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6E665E"/>
                </a:solidFill>
                <a:latin typeface="Arial" pitchFamily="34" charset="0"/>
                <a:ea typeface="Arial" pitchFamily="34" charset="-122"/>
                <a:cs typeface="Arial" pitchFamily="34" charset="-120"/>
              </a:rPr>
              <a:t>Editar el PDF, borrarlo de la web y volver a subirlo.</a:t>
            </a:r>
            <a:endParaRPr lang="en-US" sz="1800" dirty="0"/>
          </a:p>
        </p:txBody>
      </p:sp>
      <p:sp>
        <p:nvSpPr>
          <p:cNvPr id="13" name="Text 11"/>
          <p:cNvSpPr/>
          <p:nvPr/>
        </p:nvSpPr>
        <p:spPr>
          <a:xfrm>
            <a:off x="990600" y="6860268"/>
            <a:ext cx="68580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EE3B0D"/>
                </a:solidFill>
                <a:latin typeface="Arial" pitchFamily="34" charset="0"/>
                <a:ea typeface="Arial" pitchFamily="34" charset="-122"/>
                <a:cs typeface="Arial" pitchFamily="34" charset="-120"/>
              </a:rPr>
              <a:t>·</a:t>
            </a:r>
            <a:endParaRPr lang="en-US" sz="2250" dirty="0"/>
          </a:p>
        </p:txBody>
      </p:sp>
      <p:sp>
        <p:nvSpPr>
          <p:cNvPr id="14" name="Text 12"/>
          <p:cNvSpPr/>
          <p:nvPr/>
        </p:nvSpPr>
        <p:spPr>
          <a:xfrm>
            <a:off x="1847850" y="6869793"/>
            <a:ext cx="3829718" cy="352425"/>
          </a:xfrm>
          <a:prstGeom prst="rect">
            <a:avLst/>
          </a:prstGeom>
          <a:noFill/>
          <a:ln/>
        </p:spPr>
        <p:txBody>
          <a:bodyPr wrap="square" lIns="0" tIns="0" rIns="0" bIns="0" rtlCol="0" anchor="t">
            <a:normAutofit/>
          </a:bodyPr>
          <a:lstStyle/>
          <a:p>
            <a:pPr algn="l" indent="0" marL="0">
              <a:lnSpc>
                <a:spcPct val="118000"/>
              </a:lnSpc>
              <a:buNone/>
            </a:pPr>
            <a:r>
              <a:rPr lang="en-US" sz="2250" b="1" dirty="0">
                <a:solidFill>
                  <a:srgbClr val="1A1714"/>
                </a:solidFill>
                <a:latin typeface="Arial" pitchFamily="34" charset="0"/>
                <a:ea typeface="Arial" pitchFamily="34" charset="-122"/>
                <a:cs typeface="Arial" pitchFamily="34" charset="-120"/>
              </a:rPr>
              <a:t>Poco accesible e incómodo</a:t>
            </a:r>
            <a:endParaRPr lang="en-US" sz="2250" dirty="0"/>
          </a:p>
        </p:txBody>
      </p:sp>
      <p:sp>
        <p:nvSpPr>
          <p:cNvPr id="15" name="Text 13"/>
          <p:cNvSpPr/>
          <p:nvPr/>
        </p:nvSpPr>
        <p:spPr>
          <a:xfrm>
            <a:off x="1847850" y="7264114"/>
            <a:ext cx="7003879"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6E665E"/>
                </a:solidFill>
                <a:latin typeface="Arial" pitchFamily="34" charset="0"/>
                <a:ea typeface="Arial" pitchFamily="34" charset="-122"/>
                <a:cs typeface="Arial" pitchFamily="34" charset="-120"/>
              </a:rPr>
              <a:t>Imágenes diminutas, mal para lectores de pantalla y para el móvil.</a:t>
            </a:r>
            <a:endParaRPr lang="en-US" sz="1800" dirty="0"/>
          </a:p>
        </p:txBody>
      </p:sp>
      <p:sp>
        <p:nvSpPr>
          <p:cNvPr id="16" name="Text 14"/>
          <p:cNvSpPr/>
          <p:nvPr/>
        </p:nvSpPr>
        <p:spPr>
          <a:xfrm>
            <a:off x="990600" y="7819540"/>
            <a:ext cx="68580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EE3B0D"/>
                </a:solidFill>
                <a:latin typeface="Arial" pitchFamily="34" charset="0"/>
                <a:ea typeface="Arial" pitchFamily="34" charset="-122"/>
                <a:cs typeface="Arial" pitchFamily="34" charset="-120"/>
              </a:rPr>
              <a:t>·</a:t>
            </a:r>
            <a:endParaRPr lang="en-US" sz="2250" dirty="0"/>
          </a:p>
        </p:txBody>
      </p:sp>
      <p:sp>
        <p:nvSpPr>
          <p:cNvPr id="17" name="Text 15"/>
          <p:cNvSpPr/>
          <p:nvPr/>
        </p:nvSpPr>
        <p:spPr>
          <a:xfrm>
            <a:off x="1847850" y="7829065"/>
            <a:ext cx="3398812" cy="352425"/>
          </a:xfrm>
          <a:prstGeom prst="rect">
            <a:avLst/>
          </a:prstGeom>
          <a:noFill/>
          <a:ln/>
        </p:spPr>
        <p:txBody>
          <a:bodyPr wrap="square" lIns="0" tIns="0" rIns="0" bIns="0" rtlCol="0" anchor="t">
            <a:normAutofit/>
          </a:bodyPr>
          <a:lstStyle/>
          <a:p>
            <a:pPr algn="l" indent="0" marL="0">
              <a:lnSpc>
                <a:spcPct val="118000"/>
              </a:lnSpc>
              <a:buNone/>
            </a:pPr>
            <a:r>
              <a:rPr lang="en-US" sz="2250" b="1" dirty="0">
                <a:solidFill>
                  <a:srgbClr val="1A1714"/>
                </a:solidFill>
                <a:latin typeface="Arial" pitchFamily="34" charset="0"/>
                <a:ea typeface="Arial" pitchFamily="34" charset="-122"/>
                <a:cs typeface="Arial" pitchFamily="34" charset="-120"/>
              </a:rPr>
              <a:t>Gestión interna en Excel</a:t>
            </a:r>
            <a:endParaRPr lang="en-US" sz="2250" dirty="0"/>
          </a:p>
        </p:txBody>
      </p:sp>
      <p:sp>
        <p:nvSpPr>
          <p:cNvPr id="18" name="Text 16"/>
          <p:cNvSpPr/>
          <p:nvPr/>
        </p:nvSpPr>
        <p:spPr>
          <a:xfrm>
            <a:off x="1847850" y="8223385"/>
            <a:ext cx="7003879"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6E665E"/>
                </a:solidFill>
                <a:latin typeface="Arial" pitchFamily="34" charset="0"/>
                <a:ea typeface="Arial" pitchFamily="34" charset="-122"/>
                <a:cs typeface="Arial" pitchFamily="34" charset="-120"/>
              </a:rPr>
              <a:t>Sin control real ni histórico de las obras.</a:t>
            </a:r>
            <a:endParaRPr lang="en-US" sz="1800" dirty="0"/>
          </a:p>
        </p:txBody>
      </p:sp>
      <p:sp>
        <p:nvSpPr>
          <p:cNvPr id="19" name="Shape 17"/>
          <p:cNvSpPr/>
          <p:nvPr/>
        </p:nvSpPr>
        <p:spPr>
          <a:xfrm>
            <a:off x="9257333" y="2228850"/>
            <a:ext cx="8040067" cy="6286500"/>
          </a:xfrm>
          <a:prstGeom prst="roundRect">
            <a:avLst>
              <a:gd name="adj" fmla="val 1818"/>
            </a:avLst>
          </a:prstGeom>
          <a:solidFill>
            <a:srgbClr val="1A1714">
              <a:alpha val="4000"/>
            </a:srgbClr>
          </a:solidFill>
          <a:ln/>
        </p:spPr>
      </p:sp>
      <p:pic>
        <p:nvPicPr>
          <p:cNvPr id="20" name="Image 0" descr="preencoded.png">    </p:cNvPr>
          <p:cNvPicPr>
            <a:picLocks noChangeAspect="1"/>
          </p:cNvPicPr>
          <p:nvPr/>
        </p:nvPicPr>
        <p:blipFill>
          <a:blip r:embed="rId1"/>
          <a:srcRect l="0" r="0" t="22960" b="22960"/>
          <a:stretch/>
        </p:blipFill>
        <p:spPr>
          <a:xfrm>
            <a:off x="9257333" y="2228850"/>
            <a:ext cx="8040067" cy="6286500"/>
          </a:xfrm>
          <a:prstGeom prst="rect">
            <a:avLst/>
          </a:prstGeom>
        </p:spPr>
      </p:pic>
      <p:sp>
        <p:nvSpPr>
          <p:cNvPr id="21" name="Text 18"/>
          <p:cNvSpPr/>
          <p:nvPr/>
        </p:nvSpPr>
        <p:spPr>
          <a:xfrm>
            <a:off x="9257333" y="8629650"/>
            <a:ext cx="3115373" cy="28575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E665E"/>
                </a:solidFill>
                <a:latin typeface="Arial" pitchFamily="34" charset="0"/>
                <a:ea typeface="Arial" pitchFamily="34" charset="-122"/>
                <a:cs typeface="Arial" pitchFamily="34" charset="-120"/>
              </a:rPr>
              <a:t>EL PUNTO DE PARTIDA</a:t>
            </a:r>
            <a:endParaRPr lang="en-US" sz="1800" dirty="0"/>
          </a:p>
        </p:txBody>
      </p:sp>
      <p:sp>
        <p:nvSpPr>
          <p:cNvPr id="22" name="Text 19"/>
          <p:cNvSpPr/>
          <p:nvPr/>
        </p:nvSpPr>
        <p:spPr>
          <a:xfrm>
            <a:off x="990600" y="9525000"/>
            <a:ext cx="2787019" cy="2857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6E665E"/>
                </a:solidFill>
                <a:latin typeface="Arial" pitchFamily="34" charset="0"/>
                <a:ea typeface="Arial" pitchFamily="34" charset="-122"/>
                <a:cs typeface="Arial" pitchFamily="34" charset="-120"/>
              </a:rPr>
              <a:t>El problema que resuelve</a:t>
            </a:r>
            <a:endParaRPr lang="en-US" sz="1800" dirty="0"/>
          </a:p>
        </p:txBody>
      </p:sp>
      <p:sp>
        <p:nvSpPr>
          <p:cNvPr id="23" name="Text 20"/>
          <p:cNvSpPr/>
          <p:nvPr/>
        </p:nvSpPr>
        <p:spPr>
          <a:xfrm>
            <a:off x="16575658" y="9525000"/>
            <a:ext cx="797942" cy="28575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1A1714"/>
                </a:solidFill>
                <a:latin typeface="Arial" pitchFamily="34" charset="0"/>
                <a:ea typeface="Arial" pitchFamily="34" charset="-122"/>
                <a:cs typeface="Arial" pitchFamily="34" charset="-120"/>
              </a:rPr>
              <a:t>03 </a:t>
            </a:r>
            <a:pPr algn="l" indent="0" marL="0">
              <a:buNone/>
            </a:pPr>
            <a:r>
              <a:rPr lang="en-US" sz="1800" spc="36" kern="0" dirty="0">
                <a:solidFill>
                  <a:srgbClr val="6E665E"/>
                </a:solidFill>
                <a:latin typeface="Arial" pitchFamily="34" charset="0"/>
                <a:ea typeface="Arial" pitchFamily="34" charset="-122"/>
                <a:cs typeface="Arial" pitchFamily="34" charset="-120"/>
              </a:rPr>
              <a:t>/ 15</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DE7"/>
        </a:solidFill>
      </p:bgPr>
    </p:bg>
    <p:spTree>
      <p:nvGrpSpPr>
        <p:cNvPr id="1" name=""/>
        <p:cNvGrpSpPr/>
        <p:nvPr/>
      </p:nvGrpSpPr>
      <p:grpSpPr>
        <a:xfrm>
          <a:off x="0" y="0"/>
          <a:ext cx="0" cy="0"/>
          <a:chOff x="0" y="0"/>
          <a:chExt cx="0" cy="0"/>
        </a:xfrm>
      </p:grpSpPr>
      <p:sp>
        <p:nvSpPr>
          <p:cNvPr id="2" name="Shape 0"/>
          <p:cNvSpPr/>
          <p:nvPr/>
        </p:nvSpPr>
        <p:spPr>
          <a:xfrm>
            <a:off x="0" y="0"/>
            <a:ext cx="18288000" cy="66675"/>
          </a:xfrm>
          <a:prstGeom prst="rect">
            <a:avLst/>
          </a:prstGeom>
          <a:solidFill>
            <a:srgbClr val="3D2BB0"/>
          </a:solidFill>
          <a:ln/>
        </p:spPr>
      </p:sp>
      <p:sp>
        <p:nvSpPr>
          <p:cNvPr id="3" name="Text 1"/>
          <p:cNvSpPr/>
          <p:nvPr/>
        </p:nvSpPr>
        <p:spPr>
          <a:xfrm>
            <a:off x="990600" y="590550"/>
            <a:ext cx="460549"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EE3B0D"/>
                </a:solidFill>
                <a:latin typeface="Arial" pitchFamily="34" charset="0"/>
                <a:ea typeface="Arial" pitchFamily="34" charset="-122"/>
                <a:cs typeface="Arial" pitchFamily="34" charset="-120"/>
              </a:rPr>
              <a:t>04</a:t>
            </a:r>
            <a:endParaRPr lang="en-US" sz="1875" dirty="0"/>
          </a:p>
        </p:txBody>
      </p:sp>
      <p:sp>
        <p:nvSpPr>
          <p:cNvPr id="4" name="Text 2"/>
          <p:cNvSpPr/>
          <p:nvPr/>
        </p:nvSpPr>
        <p:spPr>
          <a:xfrm>
            <a:off x="1546399" y="590550"/>
            <a:ext cx="1830363"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1A1714"/>
                </a:solidFill>
                <a:latin typeface="Arial" pitchFamily="34" charset="0"/>
                <a:ea typeface="Arial" pitchFamily="34" charset="-122"/>
                <a:cs typeface="Arial" pitchFamily="34" charset="-120"/>
              </a:rPr>
              <a:t>OBJETIVOS</a:t>
            </a:r>
            <a:endParaRPr lang="en-US" sz="1875" dirty="0"/>
          </a:p>
        </p:txBody>
      </p:sp>
      <p:sp>
        <p:nvSpPr>
          <p:cNvPr id="5" name="Text 3"/>
          <p:cNvSpPr/>
          <p:nvPr/>
        </p:nvSpPr>
        <p:spPr>
          <a:xfrm>
            <a:off x="990600" y="1600200"/>
            <a:ext cx="16796004" cy="1720453"/>
          </a:xfrm>
          <a:prstGeom prst="rect">
            <a:avLst/>
          </a:prstGeom>
          <a:noFill/>
          <a:ln/>
        </p:spPr>
        <p:txBody>
          <a:bodyPr wrap="square" lIns="25400" tIns="25400" rIns="25400" bIns="25400" rtlCol="0" anchor="t">
            <a:normAutofit/>
          </a:bodyPr>
          <a:lstStyle/>
          <a:p>
            <a:pPr algn="l" indent="0" marL="0">
              <a:lnSpc>
                <a:spcPct val="96000"/>
              </a:lnSpc>
              <a:buNone/>
            </a:pPr>
            <a:r>
              <a:rPr lang="en-US" sz="6900" b="1" spc="-152" kern="0" dirty="0">
                <a:solidFill>
                  <a:srgbClr val="1A1714"/>
                </a:solidFill>
                <a:latin typeface="Arial" pitchFamily="34" charset="0"/>
                <a:ea typeface="Arial" pitchFamily="34" charset="-122"/>
                <a:cs typeface="Arial" pitchFamily="34" charset="-120"/>
              </a:rPr>
              <a:t>Administrar y exponer la galería </a:t>
            </a:r>
            <a:pPr algn="l" indent="0" marL="0">
              <a:lnSpc>
                <a:spcPct val="96000"/>
              </a:lnSpc>
              <a:buNone/>
            </a:pPr>
            <a:r>
              <a:rPr lang="en-US" sz="6900" b="1" spc="-152" kern="0" dirty="0">
                <a:solidFill>
                  <a:srgbClr val="EE3B0D"/>
                </a:solidFill>
                <a:latin typeface="Arial" pitchFamily="34" charset="0"/>
                <a:ea typeface="Arial" pitchFamily="34" charset="-122"/>
                <a:cs typeface="Arial" pitchFamily="34" charset="-120"/>
              </a:rPr>
              <a:t>de forma digital</a:t>
            </a:r>
            <a:endParaRPr lang="en-US" sz="6900" dirty="0"/>
          </a:p>
        </p:txBody>
      </p:sp>
      <p:sp>
        <p:nvSpPr>
          <p:cNvPr id="6" name="Text 4"/>
          <p:cNvSpPr/>
          <p:nvPr/>
        </p:nvSpPr>
        <p:spPr>
          <a:xfrm>
            <a:off x="990600" y="3568307"/>
            <a:ext cx="11576685" cy="892969"/>
          </a:xfrm>
          <a:prstGeom prst="rect">
            <a:avLst/>
          </a:prstGeom>
          <a:noFill/>
          <a:ln/>
        </p:spPr>
        <p:txBody>
          <a:bodyPr wrap="square" lIns="25400" tIns="25400" rIns="25400" bIns="25400" rtlCol="0" anchor="t">
            <a:normAutofit/>
          </a:bodyPr>
          <a:lstStyle/>
          <a:p>
            <a:pPr algn="l" indent="0" marL="0">
              <a:lnSpc>
                <a:spcPct val="132000"/>
              </a:lnSpc>
              <a:buNone/>
            </a:pPr>
            <a:r>
              <a:rPr lang="en-US" sz="2550" dirty="0">
                <a:solidFill>
                  <a:srgbClr val="6E665E"/>
                </a:solidFill>
                <a:latin typeface="Arial" pitchFamily="34" charset="0"/>
                <a:ea typeface="Arial" pitchFamily="34" charset="-122"/>
                <a:cs typeface="Arial" pitchFamily="34" charset="-120"/>
              </a:rPr>
              <a:t>Una aplicación web completa con arquitectura cliente-servidor: </a:t>
            </a:r>
            <a:pPr algn="l" indent="0" marL="0">
              <a:lnSpc>
                <a:spcPct val="132000"/>
              </a:lnSpc>
              <a:buNone/>
            </a:pPr>
            <a:r>
              <a:rPr lang="en-US" sz="2550" b="1" dirty="0">
                <a:solidFill>
                  <a:srgbClr val="1A1714"/>
                </a:solidFill>
                <a:latin typeface="Arial" pitchFamily="34" charset="0"/>
                <a:ea typeface="Arial" pitchFamily="34" charset="-122"/>
                <a:cs typeface="Arial" pitchFamily="34" charset="-120"/>
              </a:rPr>
              <a:t>Angular </a:t>
            </a:r>
            <a:pPr algn="l" indent="0" marL="0">
              <a:lnSpc>
                <a:spcPct val="132000"/>
              </a:lnSpc>
              <a:buNone/>
            </a:pPr>
            <a:r>
              <a:rPr lang="en-US" sz="2550" dirty="0">
                <a:solidFill>
                  <a:srgbClr val="6E665E"/>
                </a:solidFill>
                <a:latin typeface="Arial" pitchFamily="34" charset="0"/>
                <a:ea typeface="Arial" pitchFamily="34" charset="-122"/>
                <a:cs typeface="Arial" pitchFamily="34" charset="-120"/>
              </a:rPr>
              <a:t>en el frontend, </a:t>
            </a:r>
            <a:pPr algn="l" indent="0" marL="0">
              <a:lnSpc>
                <a:spcPct val="132000"/>
              </a:lnSpc>
              <a:buNone/>
            </a:pPr>
            <a:r>
              <a:rPr lang="en-US" sz="2550" b="1" dirty="0">
                <a:solidFill>
                  <a:srgbClr val="1A1714"/>
                </a:solidFill>
                <a:latin typeface="Arial" pitchFamily="34" charset="0"/>
                <a:ea typeface="Arial" pitchFamily="34" charset="-122"/>
                <a:cs typeface="Arial" pitchFamily="34" charset="-120"/>
              </a:rPr>
              <a:t>Spring Boot + MySQL </a:t>
            </a:r>
            <a:pPr algn="l" indent="0" marL="0">
              <a:lnSpc>
                <a:spcPct val="132000"/>
              </a:lnSpc>
              <a:buNone/>
            </a:pPr>
            <a:r>
              <a:rPr lang="en-US" sz="2550" dirty="0">
                <a:solidFill>
                  <a:srgbClr val="6E665E"/>
                </a:solidFill>
                <a:latin typeface="Arial" pitchFamily="34" charset="0"/>
                <a:ea typeface="Arial" pitchFamily="34" charset="-122"/>
                <a:cs typeface="Arial" pitchFamily="34" charset="-120"/>
              </a:rPr>
              <a:t>en el backend.</a:t>
            </a:r>
            <a:endParaRPr lang="en-US" sz="2550" dirty="0"/>
          </a:p>
        </p:txBody>
      </p:sp>
      <p:sp>
        <p:nvSpPr>
          <p:cNvPr id="7" name="Shape 5"/>
          <p:cNvSpPr/>
          <p:nvPr/>
        </p:nvSpPr>
        <p:spPr>
          <a:xfrm>
            <a:off x="990600" y="4806336"/>
            <a:ext cx="2662535" cy="566738"/>
          </a:xfrm>
          <a:prstGeom prst="roundRect">
            <a:avLst>
              <a:gd name="adj" fmla="val 50000"/>
            </a:avLst>
          </a:prstGeom>
          <a:solidFill>
            <a:srgbClr val="1A1714"/>
          </a:solidFill>
          <a:ln w="19050">
            <a:solidFill>
              <a:srgbClr val="1A1714"/>
            </a:solidFill>
            <a:prstDash val="solid"/>
          </a:ln>
        </p:spPr>
      </p:sp>
      <p:sp>
        <p:nvSpPr>
          <p:cNvPr id="8" name="Text 6"/>
          <p:cNvSpPr/>
          <p:nvPr/>
        </p:nvSpPr>
        <p:spPr>
          <a:xfrm>
            <a:off x="1276350" y="4958736"/>
            <a:ext cx="2170911" cy="300038"/>
          </a:xfrm>
          <a:prstGeom prst="rect">
            <a:avLst/>
          </a:prstGeom>
          <a:noFill/>
          <a:ln/>
        </p:spPr>
        <p:txBody>
          <a:bodyPr wrap="square" lIns="25400" tIns="25400" rIns="25400" bIns="25400" rtlCol="0" anchor="t">
            <a:normAutofit/>
          </a:bodyPr>
          <a:lstStyle/>
          <a:p>
            <a:pPr algn="l" indent="0" marL="0">
              <a:buNone/>
            </a:pPr>
            <a:r>
              <a:rPr lang="en-US" sz="1875" b="1" dirty="0">
                <a:solidFill>
                  <a:srgbClr val="F3EDE7"/>
                </a:solidFill>
                <a:latin typeface="Arial" pitchFamily="34" charset="0"/>
                <a:ea typeface="Arial" pitchFamily="34" charset="-122"/>
                <a:cs typeface="Arial" pitchFamily="34" charset="-120"/>
              </a:rPr>
              <a:t>Interfaz responsive</a:t>
            </a:r>
            <a:endParaRPr lang="en-US" sz="1875" dirty="0"/>
          </a:p>
        </p:txBody>
      </p:sp>
      <p:sp>
        <p:nvSpPr>
          <p:cNvPr id="9" name="Shape 7"/>
          <p:cNvSpPr/>
          <p:nvPr/>
        </p:nvSpPr>
        <p:spPr>
          <a:xfrm>
            <a:off x="3805535" y="4806336"/>
            <a:ext cx="3904059" cy="566738"/>
          </a:xfrm>
          <a:prstGeom prst="roundRect">
            <a:avLst>
              <a:gd name="adj" fmla="val 50000"/>
            </a:avLst>
          </a:prstGeom>
          <a:ln w="19050">
            <a:solidFill>
              <a:srgbClr val="1A1714"/>
            </a:solidFill>
            <a:prstDash val="solid"/>
          </a:ln>
        </p:spPr>
      </p:sp>
      <p:sp>
        <p:nvSpPr>
          <p:cNvPr id="10" name="Text 8"/>
          <p:cNvSpPr/>
          <p:nvPr/>
        </p:nvSpPr>
        <p:spPr>
          <a:xfrm>
            <a:off x="4091285" y="4958736"/>
            <a:ext cx="3449681" cy="300038"/>
          </a:xfrm>
          <a:prstGeom prst="rect">
            <a:avLst/>
          </a:prstGeom>
          <a:noFill/>
          <a:ln/>
        </p:spPr>
        <p:txBody>
          <a:bodyPr wrap="square" lIns="25400" tIns="25400" rIns="25400" bIns="25400" rtlCol="0" anchor="t">
            <a:normAutofit/>
          </a:bodyPr>
          <a:lstStyle/>
          <a:p>
            <a:pPr algn="l" indent="0" marL="0">
              <a:buNone/>
            </a:pPr>
            <a:r>
              <a:rPr lang="en-US" sz="1875" b="1" dirty="0">
                <a:solidFill>
                  <a:srgbClr val="1A1714"/>
                </a:solidFill>
                <a:latin typeface="Arial" pitchFamily="34" charset="0"/>
                <a:ea typeface="Arial" pitchFamily="34" charset="-122"/>
                <a:cs typeface="Arial" pitchFamily="34" charset="-120"/>
              </a:rPr>
              <a:t>Separación frontend / backend</a:t>
            </a:r>
            <a:endParaRPr lang="en-US" sz="1875" dirty="0"/>
          </a:p>
        </p:txBody>
      </p:sp>
      <p:sp>
        <p:nvSpPr>
          <p:cNvPr id="11" name="Shape 9"/>
          <p:cNvSpPr/>
          <p:nvPr/>
        </p:nvSpPr>
        <p:spPr>
          <a:xfrm>
            <a:off x="7861995" y="4806336"/>
            <a:ext cx="3835747" cy="566738"/>
          </a:xfrm>
          <a:prstGeom prst="roundRect">
            <a:avLst>
              <a:gd name="adj" fmla="val 50000"/>
            </a:avLst>
          </a:prstGeom>
          <a:ln w="19050">
            <a:solidFill>
              <a:srgbClr val="1A1714"/>
            </a:solidFill>
            <a:prstDash val="solid"/>
          </a:ln>
        </p:spPr>
      </p:sp>
      <p:sp>
        <p:nvSpPr>
          <p:cNvPr id="12" name="Text 10"/>
          <p:cNvSpPr/>
          <p:nvPr/>
        </p:nvSpPr>
        <p:spPr>
          <a:xfrm>
            <a:off x="8147745" y="4958736"/>
            <a:ext cx="3379320" cy="300038"/>
          </a:xfrm>
          <a:prstGeom prst="rect">
            <a:avLst/>
          </a:prstGeom>
          <a:noFill/>
          <a:ln/>
        </p:spPr>
        <p:txBody>
          <a:bodyPr wrap="square" lIns="25400" tIns="25400" rIns="25400" bIns="25400" rtlCol="0" anchor="t">
            <a:normAutofit/>
          </a:bodyPr>
          <a:lstStyle/>
          <a:p>
            <a:pPr algn="l" indent="0" marL="0">
              <a:buNone/>
            </a:pPr>
            <a:r>
              <a:rPr lang="en-US" sz="1875" b="1" dirty="0">
                <a:solidFill>
                  <a:srgbClr val="1A1714"/>
                </a:solidFill>
                <a:latin typeface="Arial" pitchFamily="34" charset="0"/>
                <a:ea typeface="Arial" pitchFamily="34" charset="-122"/>
                <a:cs typeface="Arial" pitchFamily="34" charset="-120"/>
              </a:rPr>
              <a:t>CRUD de obras con imágenes</a:t>
            </a:r>
            <a:endParaRPr lang="en-US" sz="1875" dirty="0"/>
          </a:p>
        </p:txBody>
      </p:sp>
      <p:sp>
        <p:nvSpPr>
          <p:cNvPr id="13" name="Shape 11"/>
          <p:cNvSpPr/>
          <p:nvPr/>
        </p:nvSpPr>
        <p:spPr>
          <a:xfrm>
            <a:off x="990600" y="5525473"/>
            <a:ext cx="4231779" cy="566738"/>
          </a:xfrm>
          <a:prstGeom prst="roundRect">
            <a:avLst>
              <a:gd name="adj" fmla="val 50000"/>
            </a:avLst>
          </a:prstGeom>
          <a:ln w="19050">
            <a:solidFill>
              <a:srgbClr val="1A1714"/>
            </a:solidFill>
            <a:prstDash val="solid"/>
          </a:ln>
        </p:spPr>
      </p:sp>
      <p:sp>
        <p:nvSpPr>
          <p:cNvPr id="14" name="Text 12"/>
          <p:cNvSpPr/>
          <p:nvPr/>
        </p:nvSpPr>
        <p:spPr>
          <a:xfrm>
            <a:off x="1276350" y="5677873"/>
            <a:ext cx="3787232" cy="300038"/>
          </a:xfrm>
          <a:prstGeom prst="rect">
            <a:avLst/>
          </a:prstGeom>
          <a:noFill/>
          <a:ln/>
        </p:spPr>
        <p:txBody>
          <a:bodyPr wrap="square" lIns="25400" tIns="25400" rIns="25400" bIns="25400" rtlCol="0" anchor="t">
            <a:normAutofit/>
          </a:bodyPr>
          <a:lstStyle/>
          <a:p>
            <a:pPr algn="l" indent="0" marL="0">
              <a:buNone/>
            </a:pPr>
            <a:r>
              <a:rPr lang="en-US" sz="1875" b="1" dirty="0">
                <a:solidFill>
                  <a:srgbClr val="1A1714"/>
                </a:solidFill>
                <a:latin typeface="Arial" pitchFamily="34" charset="0"/>
                <a:ea typeface="Arial" pitchFamily="34" charset="-122"/>
                <a:cs typeface="Arial" pitchFamily="34" charset="-120"/>
              </a:rPr>
              <a:t>Administración con autenticación</a:t>
            </a:r>
            <a:endParaRPr lang="en-US" sz="1875" dirty="0"/>
          </a:p>
        </p:txBody>
      </p:sp>
      <p:sp>
        <p:nvSpPr>
          <p:cNvPr id="15" name="Shape 13"/>
          <p:cNvSpPr/>
          <p:nvPr/>
        </p:nvSpPr>
        <p:spPr>
          <a:xfrm>
            <a:off x="5374779" y="5525473"/>
            <a:ext cx="3794075" cy="566738"/>
          </a:xfrm>
          <a:prstGeom prst="roundRect">
            <a:avLst>
              <a:gd name="adj" fmla="val 50000"/>
            </a:avLst>
          </a:prstGeom>
          <a:ln w="19050">
            <a:solidFill>
              <a:srgbClr val="1A1714"/>
            </a:solidFill>
            <a:prstDash val="solid"/>
          </a:ln>
        </p:spPr>
      </p:sp>
      <p:sp>
        <p:nvSpPr>
          <p:cNvPr id="16" name="Text 14"/>
          <p:cNvSpPr/>
          <p:nvPr/>
        </p:nvSpPr>
        <p:spPr>
          <a:xfrm>
            <a:off x="5660529" y="5677873"/>
            <a:ext cx="3336398" cy="300038"/>
          </a:xfrm>
          <a:prstGeom prst="rect">
            <a:avLst/>
          </a:prstGeom>
          <a:noFill/>
          <a:ln/>
        </p:spPr>
        <p:txBody>
          <a:bodyPr wrap="square" lIns="25400" tIns="25400" rIns="25400" bIns="25400" rtlCol="0" anchor="t">
            <a:normAutofit/>
          </a:bodyPr>
          <a:lstStyle/>
          <a:p>
            <a:pPr algn="l" indent="0" marL="0">
              <a:buNone/>
            </a:pPr>
            <a:r>
              <a:rPr lang="en-US" sz="1875" b="1" dirty="0">
                <a:solidFill>
                  <a:srgbClr val="1A1714"/>
                </a:solidFill>
                <a:latin typeface="Arial" pitchFamily="34" charset="0"/>
                <a:ea typeface="Arial" pitchFamily="34" charset="-122"/>
                <a:cs typeface="Arial" pitchFamily="34" charset="-120"/>
              </a:rPr>
              <a:t>Gestión de autores y técnicas</a:t>
            </a:r>
            <a:endParaRPr lang="en-US" sz="1875" dirty="0"/>
          </a:p>
        </p:txBody>
      </p:sp>
      <p:sp>
        <p:nvSpPr>
          <p:cNvPr id="17" name="Shape 15"/>
          <p:cNvSpPr/>
          <p:nvPr/>
        </p:nvSpPr>
        <p:spPr>
          <a:xfrm>
            <a:off x="9321254" y="5525473"/>
            <a:ext cx="2667000" cy="566738"/>
          </a:xfrm>
          <a:prstGeom prst="roundRect">
            <a:avLst>
              <a:gd name="adj" fmla="val 50000"/>
            </a:avLst>
          </a:prstGeom>
          <a:ln w="19050">
            <a:solidFill>
              <a:srgbClr val="1A1714"/>
            </a:solidFill>
            <a:prstDash val="solid"/>
          </a:ln>
        </p:spPr>
      </p:sp>
      <p:sp>
        <p:nvSpPr>
          <p:cNvPr id="18" name="Text 16"/>
          <p:cNvSpPr/>
          <p:nvPr/>
        </p:nvSpPr>
        <p:spPr>
          <a:xfrm>
            <a:off x="9607004" y="5677873"/>
            <a:ext cx="2175510" cy="300038"/>
          </a:xfrm>
          <a:prstGeom prst="rect">
            <a:avLst/>
          </a:prstGeom>
          <a:noFill/>
          <a:ln/>
        </p:spPr>
        <p:txBody>
          <a:bodyPr wrap="square" lIns="25400" tIns="25400" rIns="25400" bIns="25400" rtlCol="0" anchor="t">
            <a:normAutofit/>
          </a:bodyPr>
          <a:lstStyle/>
          <a:p>
            <a:pPr algn="l" indent="0" marL="0">
              <a:buNone/>
            </a:pPr>
            <a:r>
              <a:rPr lang="en-US" sz="1875" b="1" dirty="0">
                <a:solidFill>
                  <a:srgbClr val="1A1714"/>
                </a:solidFill>
                <a:latin typeface="Arial" pitchFamily="34" charset="0"/>
                <a:ea typeface="Arial" pitchFamily="34" charset="-122"/>
                <a:cs typeface="Arial" pitchFamily="34" charset="-120"/>
              </a:rPr>
              <a:t>Búsquedas y filtros</a:t>
            </a:r>
            <a:endParaRPr lang="en-US" sz="1875" dirty="0"/>
          </a:p>
        </p:txBody>
      </p:sp>
      <p:sp>
        <p:nvSpPr>
          <p:cNvPr id="19" name="Shape 17"/>
          <p:cNvSpPr/>
          <p:nvPr/>
        </p:nvSpPr>
        <p:spPr>
          <a:xfrm>
            <a:off x="990600" y="6244611"/>
            <a:ext cx="2058591" cy="566738"/>
          </a:xfrm>
          <a:prstGeom prst="roundRect">
            <a:avLst>
              <a:gd name="adj" fmla="val 50000"/>
            </a:avLst>
          </a:prstGeom>
          <a:ln w="19050">
            <a:solidFill>
              <a:srgbClr val="1A1714"/>
            </a:solidFill>
            <a:prstDash val="solid"/>
          </a:ln>
        </p:spPr>
      </p:sp>
      <p:sp>
        <p:nvSpPr>
          <p:cNvPr id="20" name="Text 18"/>
          <p:cNvSpPr/>
          <p:nvPr/>
        </p:nvSpPr>
        <p:spPr>
          <a:xfrm>
            <a:off x="1276350" y="6397011"/>
            <a:ext cx="1563291" cy="300038"/>
          </a:xfrm>
          <a:prstGeom prst="rect">
            <a:avLst/>
          </a:prstGeom>
          <a:noFill/>
          <a:ln/>
        </p:spPr>
        <p:txBody>
          <a:bodyPr wrap="square" lIns="25400" tIns="25400" rIns="25400" bIns="25400" rtlCol="0" anchor="t">
            <a:normAutofit/>
          </a:bodyPr>
          <a:lstStyle/>
          <a:p>
            <a:pPr algn="l" indent="0" marL="0">
              <a:buNone/>
            </a:pPr>
            <a:r>
              <a:rPr lang="en-US" sz="1875" b="1" dirty="0">
                <a:solidFill>
                  <a:srgbClr val="1A1714"/>
                </a:solidFill>
                <a:latin typeface="Arial" pitchFamily="34" charset="0"/>
                <a:ea typeface="Arial" pitchFamily="34" charset="-122"/>
                <a:cs typeface="Arial" pitchFamily="34" charset="-120"/>
              </a:rPr>
              <a:t>Accesibilidad</a:t>
            </a:r>
            <a:endParaRPr lang="en-US" sz="1875" dirty="0"/>
          </a:p>
        </p:txBody>
      </p:sp>
      <p:sp>
        <p:nvSpPr>
          <p:cNvPr id="21" name="Text 19"/>
          <p:cNvSpPr/>
          <p:nvPr/>
        </p:nvSpPr>
        <p:spPr>
          <a:xfrm>
            <a:off x="990600" y="9525000"/>
            <a:ext cx="1104379" cy="2857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6E665E"/>
                </a:solidFill>
                <a:latin typeface="Arial" pitchFamily="34" charset="0"/>
                <a:ea typeface="Arial" pitchFamily="34" charset="-122"/>
                <a:cs typeface="Arial" pitchFamily="34" charset="-120"/>
              </a:rPr>
              <a:t>Objetivos</a:t>
            </a:r>
            <a:endParaRPr lang="en-US" sz="1800" dirty="0"/>
          </a:p>
        </p:txBody>
      </p:sp>
      <p:sp>
        <p:nvSpPr>
          <p:cNvPr id="22" name="Text 20"/>
          <p:cNvSpPr/>
          <p:nvPr/>
        </p:nvSpPr>
        <p:spPr>
          <a:xfrm>
            <a:off x="16575435" y="9525000"/>
            <a:ext cx="798165" cy="28575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1A1714"/>
                </a:solidFill>
                <a:latin typeface="Arial" pitchFamily="34" charset="0"/>
                <a:ea typeface="Arial" pitchFamily="34" charset="-122"/>
                <a:cs typeface="Arial" pitchFamily="34" charset="-120"/>
              </a:rPr>
              <a:t>04 </a:t>
            </a:r>
            <a:pPr algn="l" indent="0" marL="0">
              <a:buNone/>
            </a:pPr>
            <a:r>
              <a:rPr lang="en-US" sz="1800" spc="36" kern="0" dirty="0">
                <a:solidFill>
                  <a:srgbClr val="6E665E"/>
                </a:solidFill>
                <a:latin typeface="Arial" pitchFamily="34" charset="0"/>
                <a:ea typeface="Arial" pitchFamily="34" charset="-122"/>
                <a:cs typeface="Arial" pitchFamily="34" charset="-120"/>
              </a:rPr>
              <a:t>/ 15</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DE7"/>
        </a:solidFill>
      </p:bgPr>
    </p:bg>
    <p:spTree>
      <p:nvGrpSpPr>
        <p:cNvPr id="1" name=""/>
        <p:cNvGrpSpPr/>
        <p:nvPr/>
      </p:nvGrpSpPr>
      <p:grpSpPr>
        <a:xfrm>
          <a:off x="0" y="0"/>
          <a:ext cx="0" cy="0"/>
          <a:chOff x="0" y="0"/>
          <a:chExt cx="0" cy="0"/>
        </a:xfrm>
      </p:grpSpPr>
      <p:sp>
        <p:nvSpPr>
          <p:cNvPr id="2" name="Shape 0"/>
          <p:cNvSpPr/>
          <p:nvPr/>
        </p:nvSpPr>
        <p:spPr>
          <a:xfrm>
            <a:off x="0" y="0"/>
            <a:ext cx="18288000" cy="66675"/>
          </a:xfrm>
          <a:prstGeom prst="rect">
            <a:avLst/>
          </a:prstGeom>
          <a:solidFill>
            <a:srgbClr val="3D2BB0"/>
          </a:solidFill>
          <a:ln/>
        </p:spPr>
      </p:sp>
      <p:sp>
        <p:nvSpPr>
          <p:cNvPr id="3" name="Text 1"/>
          <p:cNvSpPr/>
          <p:nvPr/>
        </p:nvSpPr>
        <p:spPr>
          <a:xfrm>
            <a:off x="990600" y="590550"/>
            <a:ext cx="460549"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EE3B0D"/>
                </a:solidFill>
                <a:latin typeface="Arial" pitchFamily="34" charset="0"/>
                <a:ea typeface="Arial" pitchFamily="34" charset="-122"/>
                <a:cs typeface="Arial" pitchFamily="34" charset="-120"/>
              </a:rPr>
              <a:t>05</a:t>
            </a:r>
            <a:endParaRPr lang="en-US" sz="1875" dirty="0"/>
          </a:p>
        </p:txBody>
      </p:sp>
      <p:sp>
        <p:nvSpPr>
          <p:cNvPr id="4" name="Text 2"/>
          <p:cNvSpPr/>
          <p:nvPr/>
        </p:nvSpPr>
        <p:spPr>
          <a:xfrm>
            <a:off x="1546399" y="590550"/>
            <a:ext cx="4250354"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1A1714"/>
                </a:solidFill>
                <a:latin typeface="Arial" pitchFamily="34" charset="0"/>
                <a:ea typeface="Arial" pitchFamily="34" charset="-122"/>
                <a:cs typeface="Arial" pitchFamily="34" charset="-120"/>
              </a:rPr>
              <a:t>TECNOLOGÍAS UTILIZADAS</a:t>
            </a:r>
            <a:endParaRPr lang="en-US" sz="1875" dirty="0"/>
          </a:p>
        </p:txBody>
      </p:sp>
      <p:sp>
        <p:nvSpPr>
          <p:cNvPr id="5" name="Text 3"/>
          <p:cNvSpPr/>
          <p:nvPr/>
        </p:nvSpPr>
        <p:spPr>
          <a:xfrm>
            <a:off x="990600" y="1600200"/>
            <a:ext cx="16796004" cy="879277"/>
          </a:xfrm>
          <a:prstGeom prst="rect">
            <a:avLst/>
          </a:prstGeom>
          <a:noFill/>
          <a:ln/>
        </p:spPr>
        <p:txBody>
          <a:bodyPr wrap="square" lIns="25400" tIns="25400" rIns="25400" bIns="25400" rtlCol="0" anchor="t">
            <a:normAutofit/>
          </a:bodyPr>
          <a:lstStyle/>
          <a:p>
            <a:pPr algn="l" indent="0" marL="0">
              <a:lnSpc>
                <a:spcPct val="96000"/>
              </a:lnSpc>
              <a:buNone/>
            </a:pPr>
            <a:r>
              <a:rPr lang="en-US" sz="6900" b="1" spc="-152" kern="0" dirty="0">
                <a:solidFill>
                  <a:srgbClr val="1A1714"/>
                </a:solidFill>
                <a:latin typeface="Arial" pitchFamily="34" charset="0"/>
                <a:ea typeface="Arial" pitchFamily="34" charset="-122"/>
                <a:cs typeface="Arial" pitchFamily="34" charset="-120"/>
              </a:rPr>
              <a:t>Todo el </a:t>
            </a:r>
            <a:pPr algn="l" indent="0" marL="0">
              <a:lnSpc>
                <a:spcPct val="96000"/>
              </a:lnSpc>
              <a:buNone/>
            </a:pPr>
            <a:r>
              <a:rPr lang="en-US" sz="6900" b="1" spc="-152" kern="0" dirty="0">
                <a:solidFill>
                  <a:srgbClr val="EE3B0D"/>
                </a:solidFill>
                <a:latin typeface="Arial" pitchFamily="34" charset="0"/>
                <a:ea typeface="Arial" pitchFamily="34" charset="-122"/>
                <a:cs typeface="Arial" pitchFamily="34" charset="-120"/>
              </a:rPr>
              <a:t>software</a:t>
            </a:r>
            <a:pPr algn="l" indent="0" marL="0">
              <a:lnSpc>
                <a:spcPct val="96000"/>
              </a:lnSpc>
              <a:buNone/>
            </a:pPr>
            <a:r>
              <a:rPr lang="en-US" sz="6900" b="1" spc="-152" kern="0" dirty="0">
                <a:solidFill>
                  <a:srgbClr val="1A1714"/>
                </a:solidFill>
                <a:latin typeface="Arial" pitchFamily="34" charset="0"/>
                <a:ea typeface="Arial" pitchFamily="34" charset="-122"/>
                <a:cs typeface="Arial" pitchFamily="34" charset="-120"/>
              </a:rPr>
              <a:t>usado</a:t>
            </a:r>
            <a:endParaRPr lang="en-US" sz="6900" dirty="0"/>
          </a:p>
        </p:txBody>
      </p:sp>
      <p:sp>
        <p:nvSpPr>
          <p:cNvPr id="6" name="Shape 4"/>
          <p:cNvSpPr/>
          <p:nvPr/>
        </p:nvSpPr>
        <p:spPr>
          <a:xfrm>
            <a:off x="990600" y="3355824"/>
            <a:ext cx="5079950" cy="28575"/>
          </a:xfrm>
          <a:prstGeom prst="rect">
            <a:avLst/>
          </a:prstGeom>
          <a:solidFill>
            <a:srgbClr val="1A1714"/>
          </a:solidFill>
          <a:ln/>
        </p:spPr>
      </p:sp>
      <p:sp>
        <p:nvSpPr>
          <p:cNvPr id="7" name="Text 5"/>
          <p:cNvSpPr/>
          <p:nvPr/>
        </p:nvSpPr>
        <p:spPr>
          <a:xfrm>
            <a:off x="990600" y="2955774"/>
            <a:ext cx="5232349" cy="28575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EE3B0D"/>
                </a:solidFill>
                <a:latin typeface="Arial" pitchFamily="34" charset="0"/>
                <a:ea typeface="Arial" pitchFamily="34" charset="-122"/>
                <a:cs typeface="Arial" pitchFamily="34" charset="-120"/>
              </a:rPr>
              <a:t>BACKEND</a:t>
            </a:r>
            <a:endParaRPr lang="en-US" sz="1800" dirty="0"/>
          </a:p>
        </p:txBody>
      </p:sp>
      <p:sp>
        <p:nvSpPr>
          <p:cNvPr id="8" name="Text 6"/>
          <p:cNvSpPr/>
          <p:nvPr/>
        </p:nvSpPr>
        <p:spPr>
          <a:xfrm>
            <a:off x="990600" y="3632049"/>
            <a:ext cx="2844888" cy="381000"/>
          </a:xfrm>
          <a:prstGeom prst="rect">
            <a:avLst/>
          </a:prstGeom>
          <a:noFill/>
          <a:ln/>
        </p:spPr>
        <p:txBody>
          <a:bodyPr wrap="square" lIns="0" tIns="0" rIns="0" bIns="0" rtlCol="0" anchor="t">
            <a:normAutofit/>
          </a:bodyPr>
          <a:lstStyle/>
          <a:p>
            <a:pPr algn="l" indent="0" marL="0">
              <a:buNone/>
            </a:pPr>
            <a:r>
              <a:rPr lang="en-US" sz="2475" b="1" spc="-25" kern="0" dirty="0">
                <a:solidFill>
                  <a:srgbClr val="1A1714"/>
                </a:solidFill>
                <a:latin typeface="Arial" pitchFamily="34" charset="0"/>
                <a:ea typeface="Arial" pitchFamily="34" charset="-122"/>
                <a:cs typeface="Arial" pitchFamily="34" charset="-120"/>
              </a:rPr>
              <a:t>Java + Spring Boot</a:t>
            </a:r>
            <a:endParaRPr lang="en-US" sz="2475" dirty="0"/>
          </a:p>
        </p:txBody>
      </p:sp>
      <p:sp>
        <p:nvSpPr>
          <p:cNvPr id="9" name="Text 7"/>
          <p:cNvSpPr/>
          <p:nvPr/>
        </p:nvSpPr>
        <p:spPr>
          <a:xfrm>
            <a:off x="990600" y="3974949"/>
            <a:ext cx="5232349" cy="285750"/>
          </a:xfrm>
          <a:prstGeom prst="rect">
            <a:avLst/>
          </a:prstGeom>
          <a:noFill/>
          <a:ln/>
        </p:spPr>
        <p:txBody>
          <a:bodyPr wrap="square" lIns="25400" tIns="25400" rIns="25400" bIns="25400" rtlCol="0" anchor="t">
            <a:normAutofit/>
          </a:bodyPr>
          <a:lstStyle/>
          <a:p>
            <a:pPr algn="l" indent="0" marL="0">
              <a:buNone/>
            </a:pPr>
            <a:r>
              <a:rPr lang="en-US" sz="1800" spc="-25" kern="0" dirty="0">
                <a:solidFill>
                  <a:srgbClr val="6E665E"/>
                </a:solidFill>
                <a:latin typeface="Arial" pitchFamily="34" charset="0"/>
                <a:ea typeface="Arial" pitchFamily="34" charset="-122"/>
                <a:cs typeface="Arial" pitchFamily="34" charset="-120"/>
              </a:rPr>
              <a:t>API REST</a:t>
            </a:r>
            <a:endParaRPr lang="en-US" sz="1800" dirty="0"/>
          </a:p>
        </p:txBody>
      </p:sp>
      <p:sp>
        <p:nvSpPr>
          <p:cNvPr id="10" name="Text 8"/>
          <p:cNvSpPr/>
          <p:nvPr/>
        </p:nvSpPr>
        <p:spPr>
          <a:xfrm>
            <a:off x="990600" y="4374999"/>
            <a:ext cx="2327449" cy="381000"/>
          </a:xfrm>
          <a:prstGeom prst="rect">
            <a:avLst/>
          </a:prstGeom>
          <a:noFill/>
          <a:ln/>
        </p:spPr>
        <p:txBody>
          <a:bodyPr wrap="square" lIns="0" tIns="0" rIns="0" bIns="0" rtlCol="0" anchor="t">
            <a:normAutofit/>
          </a:bodyPr>
          <a:lstStyle/>
          <a:p>
            <a:pPr algn="l" indent="0" marL="0">
              <a:buNone/>
            </a:pPr>
            <a:r>
              <a:rPr lang="en-US" sz="2475" b="1" spc="-25" kern="0" dirty="0">
                <a:solidFill>
                  <a:srgbClr val="1A1714"/>
                </a:solidFill>
                <a:latin typeface="Arial" pitchFamily="34" charset="0"/>
                <a:ea typeface="Arial" pitchFamily="34" charset="-122"/>
                <a:cs typeface="Arial" pitchFamily="34" charset="-120"/>
              </a:rPr>
              <a:t>Spring Security</a:t>
            </a:r>
            <a:endParaRPr lang="en-US" sz="2475" dirty="0"/>
          </a:p>
        </p:txBody>
      </p:sp>
      <p:sp>
        <p:nvSpPr>
          <p:cNvPr id="11" name="Text 9"/>
          <p:cNvSpPr/>
          <p:nvPr/>
        </p:nvSpPr>
        <p:spPr>
          <a:xfrm>
            <a:off x="990600" y="4717899"/>
            <a:ext cx="5232349" cy="285750"/>
          </a:xfrm>
          <a:prstGeom prst="rect">
            <a:avLst/>
          </a:prstGeom>
          <a:noFill/>
          <a:ln/>
        </p:spPr>
        <p:txBody>
          <a:bodyPr wrap="square" lIns="25400" tIns="25400" rIns="25400" bIns="25400" rtlCol="0" anchor="t">
            <a:normAutofit/>
          </a:bodyPr>
          <a:lstStyle/>
          <a:p>
            <a:pPr algn="l" indent="0" marL="0">
              <a:buNone/>
            </a:pPr>
            <a:r>
              <a:rPr lang="en-US" sz="1800" spc="-25" kern="0" dirty="0">
                <a:solidFill>
                  <a:srgbClr val="6E665E"/>
                </a:solidFill>
                <a:latin typeface="Arial" pitchFamily="34" charset="0"/>
                <a:ea typeface="Arial" pitchFamily="34" charset="-122"/>
                <a:cs typeface="Arial" pitchFamily="34" charset="-120"/>
              </a:rPr>
              <a:t>Autenticación</a:t>
            </a:r>
            <a:endParaRPr lang="en-US" sz="1800" dirty="0"/>
          </a:p>
        </p:txBody>
      </p:sp>
      <p:sp>
        <p:nvSpPr>
          <p:cNvPr id="12" name="Text 10"/>
          <p:cNvSpPr/>
          <p:nvPr/>
        </p:nvSpPr>
        <p:spPr>
          <a:xfrm>
            <a:off x="990600" y="5117949"/>
            <a:ext cx="1154981" cy="381000"/>
          </a:xfrm>
          <a:prstGeom prst="rect">
            <a:avLst/>
          </a:prstGeom>
          <a:noFill/>
          <a:ln/>
        </p:spPr>
        <p:txBody>
          <a:bodyPr wrap="square" lIns="0" tIns="0" rIns="0" bIns="0" rtlCol="0" anchor="t">
            <a:normAutofit/>
          </a:bodyPr>
          <a:lstStyle/>
          <a:p>
            <a:pPr algn="l" indent="0" marL="0">
              <a:buNone/>
            </a:pPr>
            <a:r>
              <a:rPr lang="en-US" sz="2475" b="1" spc="-25" kern="0" dirty="0">
                <a:solidFill>
                  <a:srgbClr val="1A1714"/>
                </a:solidFill>
                <a:latin typeface="Arial" pitchFamily="34" charset="0"/>
                <a:ea typeface="Arial" pitchFamily="34" charset="-122"/>
                <a:cs typeface="Arial" pitchFamily="34" charset="-120"/>
              </a:rPr>
              <a:t>MySQL</a:t>
            </a:r>
            <a:endParaRPr lang="en-US" sz="2475" dirty="0"/>
          </a:p>
        </p:txBody>
      </p:sp>
      <p:sp>
        <p:nvSpPr>
          <p:cNvPr id="13" name="Text 11"/>
          <p:cNvSpPr/>
          <p:nvPr/>
        </p:nvSpPr>
        <p:spPr>
          <a:xfrm>
            <a:off x="990600" y="5460849"/>
            <a:ext cx="5232349" cy="285750"/>
          </a:xfrm>
          <a:prstGeom prst="rect">
            <a:avLst/>
          </a:prstGeom>
          <a:noFill/>
          <a:ln/>
        </p:spPr>
        <p:txBody>
          <a:bodyPr wrap="square" lIns="25400" tIns="25400" rIns="25400" bIns="25400" rtlCol="0" anchor="t">
            <a:normAutofit/>
          </a:bodyPr>
          <a:lstStyle/>
          <a:p>
            <a:pPr algn="l" indent="0" marL="0">
              <a:buNone/>
            </a:pPr>
            <a:r>
              <a:rPr lang="en-US" sz="1800" spc="-25" kern="0" dirty="0">
                <a:solidFill>
                  <a:srgbClr val="6E665E"/>
                </a:solidFill>
                <a:latin typeface="Arial" pitchFamily="34" charset="0"/>
                <a:ea typeface="Arial" pitchFamily="34" charset="-122"/>
                <a:cs typeface="Arial" pitchFamily="34" charset="-120"/>
              </a:rPr>
              <a:t>Base de datos</a:t>
            </a:r>
            <a:endParaRPr lang="en-US" sz="1800" dirty="0"/>
          </a:p>
        </p:txBody>
      </p:sp>
      <p:sp>
        <p:nvSpPr>
          <p:cNvPr id="14" name="Text 12"/>
          <p:cNvSpPr/>
          <p:nvPr/>
        </p:nvSpPr>
        <p:spPr>
          <a:xfrm>
            <a:off x="990600" y="5860899"/>
            <a:ext cx="4272965" cy="381000"/>
          </a:xfrm>
          <a:prstGeom prst="rect">
            <a:avLst/>
          </a:prstGeom>
          <a:noFill/>
          <a:ln/>
        </p:spPr>
        <p:txBody>
          <a:bodyPr wrap="square" lIns="0" tIns="0" rIns="0" bIns="0" rtlCol="0" anchor="t">
            <a:normAutofit/>
          </a:bodyPr>
          <a:lstStyle/>
          <a:p>
            <a:pPr algn="l" indent="0" marL="0">
              <a:buNone/>
            </a:pPr>
            <a:r>
              <a:rPr lang="en-US" sz="2475" b="1" spc="-25" kern="0" dirty="0">
                <a:solidFill>
                  <a:srgbClr val="1A1714"/>
                </a:solidFill>
                <a:latin typeface="Arial" pitchFamily="34" charset="0"/>
                <a:ea typeface="Arial" pitchFamily="34" charset="-122"/>
                <a:cs typeface="Arial" pitchFamily="34" charset="-120"/>
              </a:rPr>
              <a:t>Spring Data JPA + Hibernate</a:t>
            </a:r>
            <a:endParaRPr lang="en-US" sz="2475" dirty="0"/>
          </a:p>
        </p:txBody>
      </p:sp>
      <p:sp>
        <p:nvSpPr>
          <p:cNvPr id="15" name="Text 13"/>
          <p:cNvSpPr/>
          <p:nvPr/>
        </p:nvSpPr>
        <p:spPr>
          <a:xfrm>
            <a:off x="990600" y="6203799"/>
            <a:ext cx="5232349" cy="285750"/>
          </a:xfrm>
          <a:prstGeom prst="rect">
            <a:avLst/>
          </a:prstGeom>
          <a:noFill/>
          <a:ln/>
        </p:spPr>
        <p:txBody>
          <a:bodyPr wrap="square" lIns="25400" tIns="25400" rIns="25400" bIns="25400" rtlCol="0" anchor="t">
            <a:normAutofit/>
          </a:bodyPr>
          <a:lstStyle/>
          <a:p>
            <a:pPr algn="l" indent="0" marL="0">
              <a:buNone/>
            </a:pPr>
            <a:r>
              <a:rPr lang="en-US" sz="1800" spc="-25" kern="0" dirty="0">
                <a:solidFill>
                  <a:srgbClr val="6E665E"/>
                </a:solidFill>
                <a:latin typeface="Arial" pitchFamily="34" charset="0"/>
                <a:ea typeface="Arial" pitchFamily="34" charset="-122"/>
                <a:cs typeface="Arial" pitchFamily="34" charset="-120"/>
              </a:rPr>
              <a:t>Persistencia</a:t>
            </a:r>
            <a:endParaRPr lang="en-US" sz="1800" dirty="0"/>
          </a:p>
        </p:txBody>
      </p:sp>
      <p:sp>
        <p:nvSpPr>
          <p:cNvPr id="16" name="Shape 14"/>
          <p:cNvSpPr/>
          <p:nvPr/>
        </p:nvSpPr>
        <p:spPr>
          <a:xfrm>
            <a:off x="6603950" y="3355824"/>
            <a:ext cx="5080025" cy="28575"/>
          </a:xfrm>
          <a:prstGeom prst="rect">
            <a:avLst/>
          </a:prstGeom>
          <a:solidFill>
            <a:srgbClr val="1A1714"/>
          </a:solidFill>
          <a:ln/>
        </p:spPr>
      </p:sp>
      <p:sp>
        <p:nvSpPr>
          <p:cNvPr id="17" name="Text 15"/>
          <p:cNvSpPr/>
          <p:nvPr/>
        </p:nvSpPr>
        <p:spPr>
          <a:xfrm>
            <a:off x="6603950" y="2955774"/>
            <a:ext cx="5232426" cy="28575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EE3B0D"/>
                </a:solidFill>
                <a:latin typeface="Arial" pitchFamily="34" charset="0"/>
                <a:ea typeface="Arial" pitchFamily="34" charset="-122"/>
                <a:cs typeface="Arial" pitchFamily="34" charset="-120"/>
              </a:rPr>
              <a:t>FRONTEND</a:t>
            </a:r>
            <a:endParaRPr lang="en-US" sz="1800" dirty="0"/>
          </a:p>
        </p:txBody>
      </p:sp>
      <p:sp>
        <p:nvSpPr>
          <p:cNvPr id="18" name="Text 16"/>
          <p:cNvSpPr/>
          <p:nvPr/>
        </p:nvSpPr>
        <p:spPr>
          <a:xfrm>
            <a:off x="6603950" y="3632049"/>
            <a:ext cx="1236390" cy="381000"/>
          </a:xfrm>
          <a:prstGeom prst="rect">
            <a:avLst/>
          </a:prstGeom>
          <a:noFill/>
          <a:ln/>
        </p:spPr>
        <p:txBody>
          <a:bodyPr wrap="square" lIns="0" tIns="0" rIns="0" bIns="0" rtlCol="0" anchor="t">
            <a:normAutofit/>
          </a:bodyPr>
          <a:lstStyle/>
          <a:p>
            <a:pPr algn="l" indent="0" marL="0">
              <a:buNone/>
            </a:pPr>
            <a:r>
              <a:rPr lang="en-US" sz="2475" b="1" spc="-25" kern="0" dirty="0">
                <a:solidFill>
                  <a:srgbClr val="1A1714"/>
                </a:solidFill>
                <a:latin typeface="Arial" pitchFamily="34" charset="0"/>
                <a:ea typeface="Arial" pitchFamily="34" charset="-122"/>
                <a:cs typeface="Arial" pitchFamily="34" charset="-120"/>
              </a:rPr>
              <a:t>Angular</a:t>
            </a:r>
            <a:endParaRPr lang="en-US" sz="2475" dirty="0"/>
          </a:p>
        </p:txBody>
      </p:sp>
      <p:sp>
        <p:nvSpPr>
          <p:cNvPr id="19" name="Text 17"/>
          <p:cNvSpPr/>
          <p:nvPr/>
        </p:nvSpPr>
        <p:spPr>
          <a:xfrm>
            <a:off x="6603950" y="3974949"/>
            <a:ext cx="5232426" cy="285750"/>
          </a:xfrm>
          <a:prstGeom prst="rect">
            <a:avLst/>
          </a:prstGeom>
          <a:noFill/>
          <a:ln/>
        </p:spPr>
        <p:txBody>
          <a:bodyPr wrap="square" lIns="25400" tIns="25400" rIns="25400" bIns="25400" rtlCol="0" anchor="t">
            <a:normAutofit/>
          </a:bodyPr>
          <a:lstStyle/>
          <a:p>
            <a:pPr algn="l" indent="0" marL="0">
              <a:buNone/>
            </a:pPr>
            <a:r>
              <a:rPr lang="en-US" sz="1800" spc="-25" kern="0" dirty="0">
                <a:solidFill>
                  <a:srgbClr val="6E665E"/>
                </a:solidFill>
                <a:latin typeface="Arial" pitchFamily="34" charset="0"/>
                <a:ea typeface="Arial" pitchFamily="34" charset="-122"/>
                <a:cs typeface="Arial" pitchFamily="34" charset="-120"/>
              </a:rPr>
              <a:t>Standalone + signals</a:t>
            </a:r>
            <a:endParaRPr lang="en-US" sz="1800" dirty="0"/>
          </a:p>
        </p:txBody>
      </p:sp>
      <p:sp>
        <p:nvSpPr>
          <p:cNvPr id="20" name="Text 18"/>
          <p:cNvSpPr/>
          <p:nvPr/>
        </p:nvSpPr>
        <p:spPr>
          <a:xfrm>
            <a:off x="6603950" y="4374999"/>
            <a:ext cx="1539701" cy="381000"/>
          </a:xfrm>
          <a:prstGeom prst="rect">
            <a:avLst/>
          </a:prstGeom>
          <a:noFill/>
          <a:ln/>
        </p:spPr>
        <p:txBody>
          <a:bodyPr wrap="square" lIns="0" tIns="0" rIns="0" bIns="0" rtlCol="0" anchor="t">
            <a:normAutofit/>
          </a:bodyPr>
          <a:lstStyle/>
          <a:p>
            <a:pPr algn="l" indent="0" marL="0">
              <a:buNone/>
            </a:pPr>
            <a:r>
              <a:rPr lang="en-US" sz="2475" b="1" spc="-25" kern="0" dirty="0">
                <a:solidFill>
                  <a:srgbClr val="1A1714"/>
                </a:solidFill>
                <a:latin typeface="Arial" pitchFamily="34" charset="0"/>
                <a:ea typeface="Arial" pitchFamily="34" charset="-122"/>
                <a:cs typeface="Arial" pitchFamily="34" charset="-120"/>
              </a:rPr>
              <a:t>Bootstrap</a:t>
            </a:r>
            <a:endParaRPr lang="en-US" sz="2475" dirty="0"/>
          </a:p>
        </p:txBody>
      </p:sp>
      <p:sp>
        <p:nvSpPr>
          <p:cNvPr id="21" name="Text 19"/>
          <p:cNvSpPr/>
          <p:nvPr/>
        </p:nvSpPr>
        <p:spPr>
          <a:xfrm>
            <a:off x="6603950" y="4717899"/>
            <a:ext cx="5232426" cy="285750"/>
          </a:xfrm>
          <a:prstGeom prst="rect">
            <a:avLst/>
          </a:prstGeom>
          <a:noFill/>
          <a:ln/>
        </p:spPr>
        <p:txBody>
          <a:bodyPr wrap="square" lIns="25400" tIns="25400" rIns="25400" bIns="25400" rtlCol="0" anchor="t">
            <a:normAutofit/>
          </a:bodyPr>
          <a:lstStyle/>
          <a:p>
            <a:pPr algn="l" indent="0" marL="0">
              <a:buNone/>
            </a:pPr>
            <a:r>
              <a:rPr lang="en-US" sz="1800" spc="-25" kern="0" dirty="0">
                <a:solidFill>
                  <a:srgbClr val="6E665E"/>
                </a:solidFill>
                <a:latin typeface="Arial" pitchFamily="34" charset="0"/>
                <a:ea typeface="Arial" pitchFamily="34" charset="-122"/>
                <a:cs typeface="Arial" pitchFamily="34" charset="-120"/>
              </a:rPr>
              <a:t>Diseño responsive</a:t>
            </a:r>
            <a:endParaRPr lang="en-US" sz="1800" dirty="0"/>
          </a:p>
        </p:txBody>
      </p:sp>
      <p:sp>
        <p:nvSpPr>
          <p:cNvPr id="22" name="Shape 20"/>
          <p:cNvSpPr/>
          <p:nvPr/>
        </p:nvSpPr>
        <p:spPr>
          <a:xfrm>
            <a:off x="12217375" y="3355824"/>
            <a:ext cx="5079950" cy="28575"/>
          </a:xfrm>
          <a:prstGeom prst="rect">
            <a:avLst/>
          </a:prstGeom>
          <a:solidFill>
            <a:srgbClr val="1A1714"/>
          </a:solidFill>
          <a:ln/>
        </p:spPr>
      </p:sp>
      <p:sp>
        <p:nvSpPr>
          <p:cNvPr id="23" name="Text 21"/>
          <p:cNvSpPr/>
          <p:nvPr/>
        </p:nvSpPr>
        <p:spPr>
          <a:xfrm>
            <a:off x="12217375" y="2955774"/>
            <a:ext cx="5232349" cy="28575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EE3B0D"/>
                </a:solidFill>
                <a:latin typeface="Arial" pitchFamily="34" charset="0"/>
                <a:ea typeface="Arial" pitchFamily="34" charset="-122"/>
                <a:cs typeface="Arial" pitchFamily="34" charset="-120"/>
              </a:rPr>
              <a:t>HERRAMIENTAS</a:t>
            </a:r>
            <a:endParaRPr lang="en-US" sz="1800" dirty="0"/>
          </a:p>
        </p:txBody>
      </p:sp>
      <p:sp>
        <p:nvSpPr>
          <p:cNvPr id="24" name="Text 22"/>
          <p:cNvSpPr/>
          <p:nvPr/>
        </p:nvSpPr>
        <p:spPr>
          <a:xfrm>
            <a:off x="12217375" y="3632049"/>
            <a:ext cx="1867272" cy="381000"/>
          </a:xfrm>
          <a:prstGeom prst="rect">
            <a:avLst/>
          </a:prstGeom>
          <a:noFill/>
          <a:ln/>
        </p:spPr>
        <p:txBody>
          <a:bodyPr wrap="square" lIns="0" tIns="0" rIns="0" bIns="0" rtlCol="0" anchor="t">
            <a:normAutofit/>
          </a:bodyPr>
          <a:lstStyle/>
          <a:p>
            <a:pPr algn="l" indent="0" marL="0">
              <a:buNone/>
            </a:pPr>
            <a:r>
              <a:rPr lang="en-US" sz="2475" b="1" spc="-25" kern="0" dirty="0">
                <a:solidFill>
                  <a:srgbClr val="1A1714"/>
                </a:solidFill>
                <a:latin typeface="Arial" pitchFamily="34" charset="0"/>
                <a:ea typeface="Arial" pitchFamily="34" charset="-122"/>
                <a:cs typeface="Arial" pitchFamily="34" charset="-120"/>
              </a:rPr>
              <a:t>Git + GitHub</a:t>
            </a:r>
            <a:endParaRPr lang="en-US" sz="2475" dirty="0"/>
          </a:p>
        </p:txBody>
      </p:sp>
      <p:sp>
        <p:nvSpPr>
          <p:cNvPr id="25" name="Text 23"/>
          <p:cNvSpPr/>
          <p:nvPr/>
        </p:nvSpPr>
        <p:spPr>
          <a:xfrm>
            <a:off x="12217375" y="3974949"/>
            <a:ext cx="5232349" cy="285750"/>
          </a:xfrm>
          <a:prstGeom prst="rect">
            <a:avLst/>
          </a:prstGeom>
          <a:noFill/>
          <a:ln/>
        </p:spPr>
        <p:txBody>
          <a:bodyPr wrap="square" lIns="25400" tIns="25400" rIns="25400" bIns="25400" rtlCol="0" anchor="t">
            <a:normAutofit/>
          </a:bodyPr>
          <a:lstStyle/>
          <a:p>
            <a:pPr algn="l" indent="0" marL="0">
              <a:buNone/>
            </a:pPr>
            <a:r>
              <a:rPr lang="en-US" sz="1800" spc="-25" kern="0" dirty="0">
                <a:solidFill>
                  <a:srgbClr val="6E665E"/>
                </a:solidFill>
                <a:latin typeface="Arial" pitchFamily="34" charset="0"/>
                <a:ea typeface="Arial" pitchFamily="34" charset="-122"/>
                <a:cs typeface="Arial" pitchFamily="34" charset="-120"/>
              </a:rPr>
              <a:t>Control de versiones</a:t>
            </a:r>
            <a:endParaRPr lang="en-US" sz="1800" dirty="0"/>
          </a:p>
        </p:txBody>
      </p:sp>
      <p:sp>
        <p:nvSpPr>
          <p:cNvPr id="26" name="Text 24"/>
          <p:cNvSpPr/>
          <p:nvPr/>
        </p:nvSpPr>
        <p:spPr>
          <a:xfrm>
            <a:off x="12217375" y="4374999"/>
            <a:ext cx="1391022" cy="381000"/>
          </a:xfrm>
          <a:prstGeom prst="rect">
            <a:avLst/>
          </a:prstGeom>
          <a:noFill/>
          <a:ln/>
        </p:spPr>
        <p:txBody>
          <a:bodyPr wrap="square" lIns="0" tIns="0" rIns="0" bIns="0" rtlCol="0" anchor="t">
            <a:normAutofit/>
          </a:bodyPr>
          <a:lstStyle/>
          <a:p>
            <a:pPr algn="l" indent="0" marL="0">
              <a:buNone/>
            </a:pPr>
            <a:r>
              <a:rPr lang="en-US" sz="2475" b="1" spc="-25" kern="0" dirty="0">
                <a:solidFill>
                  <a:srgbClr val="1A1714"/>
                </a:solidFill>
                <a:latin typeface="Arial" pitchFamily="34" charset="0"/>
                <a:ea typeface="Arial" pitchFamily="34" charset="-122"/>
                <a:cs typeface="Arial" pitchFamily="34" charset="-120"/>
              </a:rPr>
              <a:t>Postman</a:t>
            </a:r>
            <a:endParaRPr lang="en-US" sz="2475" dirty="0"/>
          </a:p>
        </p:txBody>
      </p:sp>
      <p:sp>
        <p:nvSpPr>
          <p:cNvPr id="27" name="Text 25"/>
          <p:cNvSpPr/>
          <p:nvPr/>
        </p:nvSpPr>
        <p:spPr>
          <a:xfrm>
            <a:off x="12217375" y="4717899"/>
            <a:ext cx="5232349" cy="285750"/>
          </a:xfrm>
          <a:prstGeom prst="rect">
            <a:avLst/>
          </a:prstGeom>
          <a:noFill/>
          <a:ln/>
        </p:spPr>
        <p:txBody>
          <a:bodyPr wrap="square" lIns="25400" tIns="25400" rIns="25400" bIns="25400" rtlCol="0" anchor="t">
            <a:normAutofit/>
          </a:bodyPr>
          <a:lstStyle/>
          <a:p>
            <a:pPr algn="l" indent="0" marL="0">
              <a:buNone/>
            </a:pPr>
            <a:r>
              <a:rPr lang="en-US" sz="1800" spc="-25" kern="0" dirty="0">
                <a:solidFill>
                  <a:srgbClr val="6E665E"/>
                </a:solidFill>
                <a:latin typeface="Arial" pitchFamily="34" charset="0"/>
                <a:ea typeface="Arial" pitchFamily="34" charset="-122"/>
                <a:cs typeface="Arial" pitchFamily="34" charset="-120"/>
              </a:rPr>
              <a:t>Pruebas de la API</a:t>
            </a:r>
            <a:endParaRPr lang="en-US" sz="1800" dirty="0"/>
          </a:p>
        </p:txBody>
      </p:sp>
      <p:sp>
        <p:nvSpPr>
          <p:cNvPr id="28" name="Text 26"/>
          <p:cNvSpPr/>
          <p:nvPr/>
        </p:nvSpPr>
        <p:spPr>
          <a:xfrm>
            <a:off x="12217375" y="5117949"/>
            <a:ext cx="2652582" cy="381000"/>
          </a:xfrm>
          <a:prstGeom prst="rect">
            <a:avLst/>
          </a:prstGeom>
          <a:noFill/>
          <a:ln/>
        </p:spPr>
        <p:txBody>
          <a:bodyPr wrap="square" lIns="0" tIns="0" rIns="0" bIns="0" rtlCol="0" anchor="t">
            <a:normAutofit/>
          </a:bodyPr>
          <a:lstStyle/>
          <a:p>
            <a:pPr algn="l" indent="0" marL="0">
              <a:buNone/>
            </a:pPr>
            <a:r>
              <a:rPr lang="en-US" sz="2475" b="1" spc="-25" kern="0" dirty="0">
                <a:solidFill>
                  <a:srgbClr val="1A1714"/>
                </a:solidFill>
                <a:latin typeface="Arial" pitchFamily="34" charset="0"/>
                <a:ea typeface="Arial" pitchFamily="34" charset="-122"/>
                <a:cs typeface="Arial" pitchFamily="34" charset="-120"/>
              </a:rPr>
              <a:t>IntelliJ + VS Code</a:t>
            </a:r>
            <a:endParaRPr lang="en-US" sz="2475" dirty="0"/>
          </a:p>
        </p:txBody>
      </p:sp>
      <p:sp>
        <p:nvSpPr>
          <p:cNvPr id="29" name="Text 27"/>
          <p:cNvSpPr/>
          <p:nvPr/>
        </p:nvSpPr>
        <p:spPr>
          <a:xfrm>
            <a:off x="12217375" y="5460849"/>
            <a:ext cx="5232349" cy="285750"/>
          </a:xfrm>
          <a:prstGeom prst="rect">
            <a:avLst/>
          </a:prstGeom>
          <a:noFill/>
          <a:ln/>
        </p:spPr>
        <p:txBody>
          <a:bodyPr wrap="square" lIns="25400" tIns="25400" rIns="25400" bIns="25400" rtlCol="0" anchor="t">
            <a:normAutofit/>
          </a:bodyPr>
          <a:lstStyle/>
          <a:p>
            <a:pPr algn="l" indent="0" marL="0">
              <a:buNone/>
            </a:pPr>
            <a:r>
              <a:rPr lang="en-US" sz="1800" spc="-25" kern="0" dirty="0">
                <a:solidFill>
                  <a:srgbClr val="6E665E"/>
                </a:solidFill>
                <a:latin typeface="Arial" pitchFamily="34" charset="0"/>
                <a:ea typeface="Arial" pitchFamily="34" charset="-122"/>
                <a:cs typeface="Arial" pitchFamily="34" charset="-120"/>
              </a:rPr>
              <a:t>Entornos de desarrollo</a:t>
            </a:r>
            <a:endParaRPr lang="en-US" sz="1800" dirty="0"/>
          </a:p>
        </p:txBody>
      </p:sp>
      <p:sp>
        <p:nvSpPr>
          <p:cNvPr id="30" name="Text 28"/>
          <p:cNvSpPr/>
          <p:nvPr/>
        </p:nvSpPr>
        <p:spPr>
          <a:xfrm>
            <a:off x="990600" y="9525000"/>
            <a:ext cx="2454101" cy="2857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6E665E"/>
                </a:solidFill>
                <a:latin typeface="Arial" pitchFamily="34" charset="0"/>
                <a:ea typeface="Arial" pitchFamily="34" charset="-122"/>
                <a:cs typeface="Arial" pitchFamily="34" charset="-120"/>
              </a:rPr>
              <a:t>Tecnologías utilizadas</a:t>
            </a:r>
            <a:endParaRPr lang="en-US" sz="1800" dirty="0"/>
          </a:p>
        </p:txBody>
      </p:sp>
      <p:sp>
        <p:nvSpPr>
          <p:cNvPr id="31" name="Text 29"/>
          <p:cNvSpPr/>
          <p:nvPr/>
        </p:nvSpPr>
        <p:spPr>
          <a:xfrm>
            <a:off x="16575881" y="9525000"/>
            <a:ext cx="797719" cy="28575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1A1714"/>
                </a:solidFill>
                <a:latin typeface="Arial" pitchFamily="34" charset="0"/>
                <a:ea typeface="Arial" pitchFamily="34" charset="-122"/>
                <a:cs typeface="Arial" pitchFamily="34" charset="-120"/>
              </a:rPr>
              <a:t>05 </a:t>
            </a:r>
            <a:pPr algn="l" indent="0" marL="0">
              <a:buNone/>
            </a:pPr>
            <a:r>
              <a:rPr lang="en-US" sz="1800" spc="36" kern="0" dirty="0">
                <a:solidFill>
                  <a:srgbClr val="6E665E"/>
                </a:solidFill>
                <a:latin typeface="Arial" pitchFamily="34" charset="0"/>
                <a:ea typeface="Arial" pitchFamily="34" charset="-122"/>
                <a:cs typeface="Arial" pitchFamily="34" charset="-120"/>
              </a:rPr>
              <a:t>/ 15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DE7"/>
        </a:solidFill>
      </p:bgPr>
    </p:bg>
    <p:spTree>
      <p:nvGrpSpPr>
        <p:cNvPr id="1" name=""/>
        <p:cNvGrpSpPr/>
        <p:nvPr/>
      </p:nvGrpSpPr>
      <p:grpSpPr>
        <a:xfrm>
          <a:off x="0" y="0"/>
          <a:ext cx="0" cy="0"/>
          <a:chOff x="0" y="0"/>
          <a:chExt cx="0" cy="0"/>
        </a:xfrm>
      </p:grpSpPr>
      <p:sp>
        <p:nvSpPr>
          <p:cNvPr id="2" name="Shape 0"/>
          <p:cNvSpPr/>
          <p:nvPr/>
        </p:nvSpPr>
        <p:spPr>
          <a:xfrm>
            <a:off x="0" y="0"/>
            <a:ext cx="18288000" cy="66675"/>
          </a:xfrm>
          <a:prstGeom prst="rect">
            <a:avLst/>
          </a:prstGeom>
          <a:solidFill>
            <a:srgbClr val="3D2BB0"/>
          </a:solidFill>
          <a:ln/>
        </p:spPr>
      </p:sp>
      <p:sp>
        <p:nvSpPr>
          <p:cNvPr id="3" name="Text 1"/>
          <p:cNvSpPr/>
          <p:nvPr/>
        </p:nvSpPr>
        <p:spPr>
          <a:xfrm>
            <a:off x="990600" y="590550"/>
            <a:ext cx="460549"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EE3B0D"/>
                </a:solidFill>
                <a:latin typeface="Arial" pitchFamily="34" charset="0"/>
                <a:ea typeface="Arial" pitchFamily="34" charset="-122"/>
                <a:cs typeface="Arial" pitchFamily="34" charset="-120"/>
              </a:rPr>
              <a:t>06</a:t>
            </a:r>
            <a:endParaRPr lang="en-US" sz="1875" dirty="0"/>
          </a:p>
        </p:txBody>
      </p:sp>
      <p:sp>
        <p:nvSpPr>
          <p:cNvPr id="4" name="Text 2"/>
          <p:cNvSpPr/>
          <p:nvPr/>
        </p:nvSpPr>
        <p:spPr>
          <a:xfrm>
            <a:off x="1546399" y="590550"/>
            <a:ext cx="2494583"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1A1714"/>
                </a:solidFill>
                <a:latin typeface="Arial" pitchFamily="34" charset="0"/>
                <a:ea typeface="Arial" pitchFamily="34" charset="-122"/>
                <a:cs typeface="Arial" pitchFamily="34" charset="-120"/>
              </a:rPr>
              <a:t>ARQUITECTURA</a:t>
            </a:r>
            <a:endParaRPr lang="en-US" sz="1875" dirty="0"/>
          </a:p>
        </p:txBody>
      </p:sp>
      <p:sp>
        <p:nvSpPr>
          <p:cNvPr id="5" name="Text 3"/>
          <p:cNvSpPr/>
          <p:nvPr/>
        </p:nvSpPr>
        <p:spPr>
          <a:xfrm>
            <a:off x="990600" y="2003971"/>
            <a:ext cx="7886847" cy="1720453"/>
          </a:xfrm>
          <a:prstGeom prst="rect">
            <a:avLst/>
          </a:prstGeom>
          <a:noFill/>
          <a:ln/>
        </p:spPr>
        <p:txBody>
          <a:bodyPr wrap="square" lIns="25400" tIns="25400" rIns="25400" bIns="25400" rtlCol="0" anchor="t">
            <a:normAutofit/>
          </a:bodyPr>
          <a:lstStyle/>
          <a:p>
            <a:pPr algn="l" indent="0" marL="0">
              <a:lnSpc>
                <a:spcPct val="96000"/>
              </a:lnSpc>
              <a:buNone/>
            </a:pPr>
            <a:r>
              <a:rPr lang="en-US" sz="6900" b="1" spc="-152" kern="0" dirty="0">
                <a:solidFill>
                  <a:srgbClr val="1A1714"/>
                </a:solidFill>
                <a:latin typeface="Arial" pitchFamily="34" charset="0"/>
                <a:ea typeface="Arial" pitchFamily="34" charset="-122"/>
                <a:cs typeface="Arial" pitchFamily="34" charset="-120"/>
              </a:rPr>
              <a:t>Cliente-servidor, vía </a:t>
            </a:r>
            <a:pPr algn="l" indent="0" marL="0">
              <a:lnSpc>
                <a:spcPct val="96000"/>
              </a:lnSpc>
              <a:buNone/>
            </a:pPr>
            <a:r>
              <a:rPr lang="en-US" sz="6900" b="1" spc="-152" kern="0" dirty="0">
                <a:solidFill>
                  <a:srgbClr val="EE3B0D"/>
                </a:solidFill>
                <a:latin typeface="Arial" pitchFamily="34" charset="0"/>
                <a:ea typeface="Arial" pitchFamily="34" charset="-122"/>
                <a:cs typeface="Arial" pitchFamily="34" charset="-120"/>
              </a:rPr>
              <a:t>API REST</a:t>
            </a:r>
            <a:endParaRPr lang="en-US" sz="6900" dirty="0"/>
          </a:p>
        </p:txBody>
      </p:sp>
      <p:sp>
        <p:nvSpPr>
          <p:cNvPr id="6" name="Text 4"/>
          <p:cNvSpPr/>
          <p:nvPr/>
        </p:nvSpPr>
        <p:spPr>
          <a:xfrm>
            <a:off x="990600" y="3972078"/>
            <a:ext cx="7886847" cy="892969"/>
          </a:xfrm>
          <a:prstGeom prst="rect">
            <a:avLst/>
          </a:prstGeom>
          <a:noFill/>
          <a:ln/>
        </p:spPr>
        <p:txBody>
          <a:bodyPr wrap="square" lIns="25400" tIns="25400" rIns="25400" bIns="25400" rtlCol="0" anchor="t">
            <a:normAutofit/>
          </a:bodyPr>
          <a:lstStyle/>
          <a:p>
            <a:pPr algn="l" indent="0" marL="0">
              <a:lnSpc>
                <a:spcPct val="132000"/>
              </a:lnSpc>
              <a:buNone/>
            </a:pPr>
            <a:r>
              <a:rPr lang="en-US" sz="2550" dirty="0">
                <a:solidFill>
                  <a:srgbClr val="6E665E"/>
                </a:solidFill>
                <a:latin typeface="Arial" pitchFamily="34" charset="0"/>
                <a:ea typeface="Arial" pitchFamily="34" charset="-122"/>
                <a:cs typeface="Arial" pitchFamily="34" charset="-120"/>
              </a:rPr>
              <a:t>El cliente pide, el servidor decide qué responde. Esa separación lógica aporta seguridad y mantenibilidad.</a:t>
            </a:r>
            <a:endParaRPr lang="en-US" sz="2550" dirty="0"/>
          </a:p>
        </p:txBody>
      </p:sp>
      <p:sp>
        <p:nvSpPr>
          <p:cNvPr id="7" name="Text 5"/>
          <p:cNvSpPr/>
          <p:nvPr/>
        </p:nvSpPr>
        <p:spPr>
          <a:xfrm>
            <a:off x="990600" y="5191062"/>
            <a:ext cx="68580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EE3B0D"/>
                </a:solidFill>
                <a:latin typeface="Arial" pitchFamily="34" charset="0"/>
                <a:ea typeface="Arial" pitchFamily="34" charset="-122"/>
                <a:cs typeface="Arial" pitchFamily="34" charset="-120"/>
              </a:rPr>
              <a:t>01</a:t>
            </a:r>
            <a:endParaRPr lang="en-US" sz="2250" dirty="0"/>
          </a:p>
        </p:txBody>
      </p:sp>
      <p:sp>
        <p:nvSpPr>
          <p:cNvPr id="8" name="Text 6"/>
          <p:cNvSpPr/>
          <p:nvPr/>
        </p:nvSpPr>
        <p:spPr>
          <a:xfrm>
            <a:off x="1847850" y="5200587"/>
            <a:ext cx="1577280" cy="352425"/>
          </a:xfrm>
          <a:prstGeom prst="rect">
            <a:avLst/>
          </a:prstGeom>
          <a:noFill/>
          <a:ln/>
        </p:spPr>
        <p:txBody>
          <a:bodyPr wrap="square" lIns="0" tIns="0" rIns="0" bIns="0" rtlCol="0" anchor="t">
            <a:normAutofit/>
          </a:bodyPr>
          <a:lstStyle/>
          <a:p>
            <a:pPr algn="l" indent="0" marL="0">
              <a:lnSpc>
                <a:spcPct val="118000"/>
              </a:lnSpc>
              <a:buNone/>
            </a:pPr>
            <a:r>
              <a:rPr lang="en-US" sz="2250" b="1" dirty="0">
                <a:solidFill>
                  <a:srgbClr val="1A1714"/>
                </a:solidFill>
                <a:latin typeface="Arial" pitchFamily="34" charset="0"/>
                <a:ea typeface="Arial" pitchFamily="34" charset="-122"/>
                <a:cs typeface="Arial" pitchFamily="34" charset="-120"/>
              </a:rPr>
              <a:t>Navegador</a:t>
            </a:r>
            <a:endParaRPr lang="en-US" sz="2250" dirty="0"/>
          </a:p>
        </p:txBody>
      </p:sp>
      <p:sp>
        <p:nvSpPr>
          <p:cNvPr id="9" name="Text 7"/>
          <p:cNvSpPr/>
          <p:nvPr/>
        </p:nvSpPr>
        <p:spPr>
          <a:xfrm>
            <a:off x="1847850" y="5594907"/>
            <a:ext cx="7003879"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6E665E"/>
                </a:solidFill>
                <a:latin typeface="Arial" pitchFamily="34" charset="0"/>
                <a:ea typeface="Arial" pitchFamily="34" charset="-122"/>
                <a:cs typeface="Arial" pitchFamily="34" charset="-120"/>
              </a:rPr>
              <a:t>Aplicación Angular y tokens de sesión</a:t>
            </a:r>
            <a:endParaRPr lang="en-US" sz="1800" dirty="0"/>
          </a:p>
        </p:txBody>
      </p:sp>
      <p:sp>
        <p:nvSpPr>
          <p:cNvPr id="10" name="Text 8"/>
          <p:cNvSpPr/>
          <p:nvPr/>
        </p:nvSpPr>
        <p:spPr>
          <a:xfrm>
            <a:off x="990600" y="6150334"/>
            <a:ext cx="68580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EE3B0D"/>
                </a:solidFill>
                <a:latin typeface="Arial" pitchFamily="34" charset="0"/>
                <a:ea typeface="Arial" pitchFamily="34" charset="-122"/>
                <a:cs typeface="Arial" pitchFamily="34" charset="-120"/>
              </a:rPr>
              <a:t>02</a:t>
            </a:r>
            <a:endParaRPr lang="en-US" sz="2250" dirty="0"/>
          </a:p>
        </p:txBody>
      </p:sp>
      <p:sp>
        <p:nvSpPr>
          <p:cNvPr id="11" name="Text 9"/>
          <p:cNvSpPr/>
          <p:nvPr/>
        </p:nvSpPr>
        <p:spPr>
          <a:xfrm>
            <a:off x="1847850" y="6159859"/>
            <a:ext cx="1235794" cy="352425"/>
          </a:xfrm>
          <a:prstGeom prst="rect">
            <a:avLst/>
          </a:prstGeom>
          <a:noFill/>
          <a:ln/>
        </p:spPr>
        <p:txBody>
          <a:bodyPr wrap="square" lIns="0" tIns="0" rIns="0" bIns="0" rtlCol="0" anchor="t">
            <a:normAutofit/>
          </a:bodyPr>
          <a:lstStyle/>
          <a:p>
            <a:pPr algn="l" indent="0" marL="0">
              <a:lnSpc>
                <a:spcPct val="118000"/>
              </a:lnSpc>
              <a:buNone/>
            </a:pPr>
            <a:r>
              <a:rPr lang="en-US" sz="2250" b="1" dirty="0">
                <a:solidFill>
                  <a:srgbClr val="1A1714"/>
                </a:solidFill>
                <a:latin typeface="Arial" pitchFamily="34" charset="0"/>
                <a:ea typeface="Arial" pitchFamily="34" charset="-122"/>
                <a:cs typeface="Arial" pitchFamily="34" charset="-120"/>
              </a:rPr>
              <a:t>Servidor</a:t>
            </a:r>
            <a:endParaRPr lang="en-US" sz="2250" dirty="0"/>
          </a:p>
        </p:txBody>
      </p:sp>
      <p:sp>
        <p:nvSpPr>
          <p:cNvPr id="12" name="Text 10"/>
          <p:cNvSpPr/>
          <p:nvPr/>
        </p:nvSpPr>
        <p:spPr>
          <a:xfrm>
            <a:off x="1847850" y="6554179"/>
            <a:ext cx="7003879"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6E665E"/>
                </a:solidFill>
                <a:latin typeface="Arial" pitchFamily="34" charset="0"/>
                <a:ea typeface="Arial" pitchFamily="34" charset="-122"/>
                <a:cs typeface="Arial" pitchFamily="34" charset="-120"/>
              </a:rPr>
              <a:t>Backend Spring Boot, el intermediario</a:t>
            </a:r>
            <a:endParaRPr lang="en-US" sz="1800" dirty="0"/>
          </a:p>
        </p:txBody>
      </p:sp>
      <p:sp>
        <p:nvSpPr>
          <p:cNvPr id="13" name="Text 11"/>
          <p:cNvSpPr/>
          <p:nvPr/>
        </p:nvSpPr>
        <p:spPr>
          <a:xfrm>
            <a:off x="990600" y="7109606"/>
            <a:ext cx="68580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EE3B0D"/>
                </a:solidFill>
                <a:latin typeface="Arial" pitchFamily="34" charset="0"/>
                <a:ea typeface="Arial" pitchFamily="34" charset="-122"/>
                <a:cs typeface="Arial" pitchFamily="34" charset="-120"/>
              </a:rPr>
              <a:t>03</a:t>
            </a:r>
            <a:endParaRPr lang="en-US" sz="2250" dirty="0"/>
          </a:p>
        </p:txBody>
      </p:sp>
      <p:sp>
        <p:nvSpPr>
          <p:cNvPr id="14" name="Text 12"/>
          <p:cNvSpPr/>
          <p:nvPr/>
        </p:nvSpPr>
        <p:spPr>
          <a:xfrm>
            <a:off x="1847850" y="7119131"/>
            <a:ext cx="1997869" cy="352425"/>
          </a:xfrm>
          <a:prstGeom prst="rect">
            <a:avLst/>
          </a:prstGeom>
          <a:noFill/>
          <a:ln/>
        </p:spPr>
        <p:txBody>
          <a:bodyPr wrap="square" lIns="0" tIns="0" rIns="0" bIns="0" rtlCol="0" anchor="t">
            <a:normAutofit/>
          </a:bodyPr>
          <a:lstStyle/>
          <a:p>
            <a:pPr algn="l" indent="0" marL="0">
              <a:lnSpc>
                <a:spcPct val="118000"/>
              </a:lnSpc>
              <a:buNone/>
            </a:pPr>
            <a:r>
              <a:rPr lang="en-US" sz="2250" b="1" dirty="0">
                <a:solidFill>
                  <a:srgbClr val="1A1714"/>
                </a:solidFill>
                <a:latin typeface="Arial" pitchFamily="34" charset="0"/>
                <a:ea typeface="Arial" pitchFamily="34" charset="-122"/>
                <a:cs typeface="Arial" pitchFamily="34" charset="-120"/>
              </a:rPr>
              <a:t>Base de datos</a:t>
            </a:r>
            <a:endParaRPr lang="en-US" sz="2250" dirty="0"/>
          </a:p>
        </p:txBody>
      </p:sp>
      <p:sp>
        <p:nvSpPr>
          <p:cNvPr id="15" name="Text 13"/>
          <p:cNvSpPr/>
          <p:nvPr/>
        </p:nvSpPr>
        <p:spPr>
          <a:xfrm>
            <a:off x="1847850" y="7513451"/>
            <a:ext cx="7003879"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6E665E"/>
                </a:solidFill>
                <a:latin typeface="Arial" pitchFamily="34" charset="0"/>
                <a:ea typeface="Arial" pitchFamily="34" charset="-122"/>
                <a:cs typeface="Arial" pitchFamily="34" charset="-120"/>
              </a:rPr>
              <a:t>MySQL: catálogo y autenticación</a:t>
            </a:r>
            <a:endParaRPr lang="en-US" sz="1800" dirty="0"/>
          </a:p>
        </p:txBody>
      </p:sp>
      <p:sp>
        <p:nvSpPr>
          <p:cNvPr id="16" name="Text 14"/>
          <p:cNvSpPr/>
          <p:nvPr/>
        </p:nvSpPr>
        <p:spPr>
          <a:xfrm>
            <a:off x="990600" y="8068877"/>
            <a:ext cx="68580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EE3B0D"/>
                </a:solidFill>
                <a:latin typeface="Arial" pitchFamily="34" charset="0"/>
                <a:ea typeface="Arial" pitchFamily="34" charset="-122"/>
                <a:cs typeface="Arial" pitchFamily="34" charset="-120"/>
              </a:rPr>
              <a:t>04</a:t>
            </a:r>
            <a:endParaRPr lang="en-US" sz="2250" dirty="0"/>
          </a:p>
        </p:txBody>
      </p:sp>
      <p:sp>
        <p:nvSpPr>
          <p:cNvPr id="17" name="Text 15"/>
          <p:cNvSpPr/>
          <p:nvPr/>
        </p:nvSpPr>
        <p:spPr>
          <a:xfrm>
            <a:off x="1847850" y="8078402"/>
            <a:ext cx="2822890" cy="352425"/>
          </a:xfrm>
          <a:prstGeom prst="rect">
            <a:avLst/>
          </a:prstGeom>
          <a:noFill/>
          <a:ln/>
        </p:spPr>
        <p:txBody>
          <a:bodyPr wrap="square" lIns="0" tIns="0" rIns="0" bIns="0" rtlCol="0" anchor="t">
            <a:normAutofit/>
          </a:bodyPr>
          <a:lstStyle/>
          <a:p>
            <a:pPr algn="l" indent="0" marL="0">
              <a:lnSpc>
                <a:spcPct val="118000"/>
              </a:lnSpc>
              <a:buNone/>
            </a:pPr>
            <a:r>
              <a:rPr lang="en-US" sz="2250" b="1" dirty="0">
                <a:solidFill>
                  <a:srgbClr val="1A1714"/>
                </a:solidFill>
                <a:latin typeface="Arial" pitchFamily="34" charset="0"/>
                <a:ea typeface="Arial" pitchFamily="34" charset="-122"/>
                <a:cs typeface="Arial" pitchFamily="34" charset="-120"/>
              </a:rPr>
              <a:t>Sistema de archivos</a:t>
            </a:r>
            <a:endParaRPr lang="en-US" sz="2250" dirty="0"/>
          </a:p>
        </p:txBody>
      </p:sp>
      <p:sp>
        <p:nvSpPr>
          <p:cNvPr id="18" name="Text 16"/>
          <p:cNvSpPr/>
          <p:nvPr/>
        </p:nvSpPr>
        <p:spPr>
          <a:xfrm>
            <a:off x="1847850" y="8472722"/>
            <a:ext cx="7003879"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6E665E"/>
                </a:solidFill>
                <a:latin typeface="Arial" pitchFamily="34" charset="0"/>
                <a:ea typeface="Arial" pitchFamily="34" charset="-122"/>
                <a:cs typeface="Arial" pitchFamily="34" charset="-120"/>
              </a:rPr>
              <a:t>Las imágenes, como ficheros independientes</a:t>
            </a:r>
            <a:endParaRPr lang="en-US" sz="1800" dirty="0"/>
          </a:p>
        </p:txBody>
      </p:sp>
      <p:sp>
        <p:nvSpPr>
          <p:cNvPr id="19" name="Shape 17"/>
          <p:cNvSpPr/>
          <p:nvPr/>
        </p:nvSpPr>
        <p:spPr>
          <a:xfrm>
            <a:off x="9257333" y="2228850"/>
            <a:ext cx="8040067" cy="6286500"/>
          </a:xfrm>
          <a:prstGeom prst="roundRect">
            <a:avLst>
              <a:gd name="adj" fmla="val 1818"/>
            </a:avLst>
          </a:prstGeom>
          <a:solidFill>
            <a:srgbClr val="1A1714">
              <a:alpha val="4000"/>
            </a:srgbClr>
          </a:solidFill>
          <a:ln/>
        </p:spPr>
      </p:sp>
      <p:pic>
        <p:nvPicPr>
          <p:cNvPr id="20" name="Image 0" descr="preencoded.png">    </p:cNvPr>
          <p:cNvPicPr>
            <a:picLocks noChangeAspect="1"/>
          </p:cNvPicPr>
          <p:nvPr/>
        </p:nvPicPr>
        <p:blipFill>
          <a:blip r:embed="rId1"/>
          <a:srcRect l="0" r="0" t="-15614" b="-15614"/>
          <a:stretch/>
        </p:blipFill>
        <p:spPr>
          <a:xfrm>
            <a:off x="9257333" y="2228850"/>
            <a:ext cx="8040067" cy="6286500"/>
          </a:xfrm>
          <a:prstGeom prst="rect">
            <a:avLst/>
          </a:prstGeom>
        </p:spPr>
      </p:pic>
      <p:sp>
        <p:nvSpPr>
          <p:cNvPr id="21" name="Text 18"/>
          <p:cNvSpPr/>
          <p:nvPr/>
        </p:nvSpPr>
        <p:spPr>
          <a:xfrm>
            <a:off x="9257333" y="8629650"/>
            <a:ext cx="3815385" cy="28575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E665E"/>
                </a:solidFill>
                <a:latin typeface="Arial" pitchFamily="34" charset="0"/>
                <a:ea typeface="Arial" pitchFamily="34" charset="-122"/>
                <a:cs typeface="Arial" pitchFamily="34" charset="-120"/>
              </a:rPr>
              <a:t>DIAGRAMA DE DESPLIEGUE</a:t>
            </a:r>
            <a:endParaRPr lang="en-US" sz="1800" dirty="0"/>
          </a:p>
        </p:txBody>
      </p:sp>
      <p:sp>
        <p:nvSpPr>
          <p:cNvPr id="22" name="Text 19"/>
          <p:cNvSpPr/>
          <p:nvPr/>
        </p:nvSpPr>
        <p:spPr>
          <a:xfrm>
            <a:off x="990600" y="9525000"/>
            <a:ext cx="1405310" cy="2857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6E665E"/>
                </a:solidFill>
                <a:latin typeface="Arial" pitchFamily="34" charset="0"/>
                <a:ea typeface="Arial" pitchFamily="34" charset="-122"/>
                <a:cs typeface="Arial" pitchFamily="34" charset="-120"/>
              </a:rPr>
              <a:t>Arquitectura</a:t>
            </a:r>
            <a:endParaRPr lang="en-US" sz="1800" dirty="0"/>
          </a:p>
        </p:txBody>
      </p:sp>
      <p:sp>
        <p:nvSpPr>
          <p:cNvPr id="23" name="Text 20"/>
          <p:cNvSpPr/>
          <p:nvPr/>
        </p:nvSpPr>
        <p:spPr>
          <a:xfrm>
            <a:off x="16575658" y="9525000"/>
            <a:ext cx="797942" cy="28575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1A1714"/>
                </a:solidFill>
                <a:latin typeface="Arial" pitchFamily="34" charset="0"/>
                <a:ea typeface="Arial" pitchFamily="34" charset="-122"/>
                <a:cs typeface="Arial" pitchFamily="34" charset="-120"/>
              </a:rPr>
              <a:t>06 </a:t>
            </a:r>
            <a:pPr algn="l" indent="0" marL="0">
              <a:buNone/>
            </a:pPr>
            <a:r>
              <a:rPr lang="en-US" sz="1800" spc="36" kern="0" dirty="0">
                <a:solidFill>
                  <a:srgbClr val="6E665E"/>
                </a:solidFill>
                <a:latin typeface="Arial" pitchFamily="34" charset="0"/>
                <a:ea typeface="Arial" pitchFamily="34" charset="-122"/>
                <a:cs typeface="Arial" pitchFamily="34" charset="-120"/>
              </a:rPr>
              <a:t>/ 15</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DE7"/>
        </a:solidFill>
      </p:bgPr>
    </p:bg>
    <p:spTree>
      <p:nvGrpSpPr>
        <p:cNvPr id="1" name=""/>
        <p:cNvGrpSpPr/>
        <p:nvPr/>
      </p:nvGrpSpPr>
      <p:grpSpPr>
        <a:xfrm>
          <a:off x="0" y="0"/>
          <a:ext cx="0" cy="0"/>
          <a:chOff x="0" y="0"/>
          <a:chExt cx="0" cy="0"/>
        </a:xfrm>
      </p:grpSpPr>
      <p:sp>
        <p:nvSpPr>
          <p:cNvPr id="2" name="Shape 0"/>
          <p:cNvSpPr/>
          <p:nvPr/>
        </p:nvSpPr>
        <p:spPr>
          <a:xfrm>
            <a:off x="0" y="0"/>
            <a:ext cx="18288000" cy="66675"/>
          </a:xfrm>
          <a:prstGeom prst="rect">
            <a:avLst/>
          </a:prstGeom>
          <a:solidFill>
            <a:srgbClr val="3D2BB0"/>
          </a:solidFill>
          <a:ln/>
        </p:spPr>
      </p:sp>
      <p:sp>
        <p:nvSpPr>
          <p:cNvPr id="3" name="Text 1"/>
          <p:cNvSpPr/>
          <p:nvPr/>
        </p:nvSpPr>
        <p:spPr>
          <a:xfrm>
            <a:off x="990600" y="590550"/>
            <a:ext cx="460549"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EE3B0D"/>
                </a:solidFill>
                <a:latin typeface="Arial" pitchFamily="34" charset="0"/>
                <a:ea typeface="Arial" pitchFamily="34" charset="-122"/>
                <a:cs typeface="Arial" pitchFamily="34" charset="-120"/>
              </a:rPr>
              <a:t>07</a:t>
            </a:r>
            <a:endParaRPr lang="en-US" sz="1875" dirty="0"/>
          </a:p>
        </p:txBody>
      </p:sp>
      <p:sp>
        <p:nvSpPr>
          <p:cNvPr id="4" name="Text 2"/>
          <p:cNvSpPr/>
          <p:nvPr/>
        </p:nvSpPr>
        <p:spPr>
          <a:xfrm>
            <a:off x="1546399" y="590550"/>
            <a:ext cx="2016323"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1A1714"/>
                </a:solidFill>
                <a:latin typeface="Arial" pitchFamily="34" charset="0"/>
                <a:ea typeface="Arial" pitchFamily="34" charset="-122"/>
                <a:cs typeface="Arial" pitchFamily="34" charset="-120"/>
              </a:rPr>
              <a:t>EL BACKEND</a:t>
            </a:r>
            <a:endParaRPr lang="en-US" sz="1875" dirty="0"/>
          </a:p>
        </p:txBody>
      </p:sp>
      <p:sp>
        <p:nvSpPr>
          <p:cNvPr id="5" name="Text 3"/>
          <p:cNvSpPr/>
          <p:nvPr/>
        </p:nvSpPr>
        <p:spPr>
          <a:xfrm>
            <a:off x="990600" y="2313980"/>
            <a:ext cx="8648023" cy="1720453"/>
          </a:xfrm>
          <a:prstGeom prst="rect">
            <a:avLst/>
          </a:prstGeom>
          <a:noFill/>
          <a:ln/>
        </p:spPr>
        <p:txBody>
          <a:bodyPr wrap="square" lIns="25400" tIns="25400" rIns="25400" bIns="25400" rtlCol="0" anchor="t">
            <a:normAutofit/>
          </a:bodyPr>
          <a:lstStyle/>
          <a:p>
            <a:pPr algn="l" indent="0" marL="0">
              <a:lnSpc>
                <a:spcPct val="96000"/>
              </a:lnSpc>
              <a:buNone/>
            </a:pPr>
            <a:r>
              <a:rPr lang="en-US" sz="6900" b="1" spc="-152" kern="0" dirty="0">
                <a:solidFill>
                  <a:srgbClr val="1A1714"/>
                </a:solidFill>
                <a:latin typeface="Arial" pitchFamily="34" charset="0"/>
                <a:ea typeface="Arial" pitchFamily="34" charset="-122"/>
                <a:cs typeface="Arial" pitchFamily="34" charset="-120"/>
              </a:rPr>
              <a:t>Arquitectura en </a:t>
            </a:r>
            <a:pPr algn="l" indent="0" marL="0">
              <a:lnSpc>
                <a:spcPct val="96000"/>
              </a:lnSpc>
              <a:buNone/>
            </a:pPr>
            <a:r>
              <a:rPr lang="en-US" sz="6900" b="1" spc="-152" kern="0" dirty="0">
                <a:solidFill>
                  <a:srgbClr val="EE3B0D"/>
                </a:solidFill>
                <a:latin typeface="Arial" pitchFamily="34" charset="0"/>
                <a:ea typeface="Arial" pitchFamily="34" charset="-122"/>
                <a:cs typeface="Arial" pitchFamily="34" charset="-120"/>
              </a:rPr>
              <a:t>capas</a:t>
            </a:r>
            <a:endParaRPr lang="en-US" sz="6900" dirty="0"/>
          </a:p>
        </p:txBody>
      </p:sp>
      <p:sp>
        <p:nvSpPr>
          <p:cNvPr id="6" name="Shape 4"/>
          <p:cNvSpPr/>
          <p:nvPr/>
        </p:nvSpPr>
        <p:spPr>
          <a:xfrm>
            <a:off x="990600" y="4358286"/>
            <a:ext cx="8396139" cy="733425"/>
          </a:xfrm>
          <a:prstGeom prst="rect">
            <a:avLst/>
          </a:prstGeom>
          <a:solidFill>
            <a:srgbClr val="EBE3DB"/>
          </a:solidFill>
          <a:ln/>
        </p:spPr>
      </p:sp>
      <p:sp>
        <p:nvSpPr>
          <p:cNvPr id="7" name="Shape 5"/>
          <p:cNvSpPr/>
          <p:nvPr/>
        </p:nvSpPr>
        <p:spPr>
          <a:xfrm>
            <a:off x="990600" y="4358286"/>
            <a:ext cx="76200" cy="733425"/>
          </a:xfrm>
          <a:prstGeom prst="rect">
            <a:avLst/>
          </a:prstGeom>
          <a:solidFill>
            <a:srgbClr val="EE3B0D"/>
          </a:solidFill>
          <a:ln/>
        </p:spPr>
      </p:sp>
      <p:sp>
        <p:nvSpPr>
          <p:cNvPr id="8" name="Text 6"/>
          <p:cNvSpPr/>
          <p:nvPr/>
        </p:nvSpPr>
        <p:spPr>
          <a:xfrm>
            <a:off x="1352550" y="4567836"/>
            <a:ext cx="2943225" cy="352425"/>
          </a:xfrm>
          <a:prstGeom prst="rect">
            <a:avLst/>
          </a:prstGeom>
          <a:noFill/>
          <a:ln/>
        </p:spPr>
        <p:txBody>
          <a:bodyPr wrap="square" lIns="25400" tIns="25400" rIns="25400" bIns="25400" rtlCol="0" anchor="t">
            <a:normAutofit/>
          </a:bodyPr>
          <a:lstStyle/>
          <a:p>
            <a:pPr algn="l" indent="0" marL="0">
              <a:buNone/>
            </a:pPr>
            <a:r>
              <a:rPr lang="en-US" sz="2250" b="1" dirty="0">
                <a:solidFill>
                  <a:srgbClr val="1A1714"/>
                </a:solidFill>
                <a:latin typeface="Arial" pitchFamily="34" charset="0"/>
                <a:ea typeface="Arial" pitchFamily="34" charset="-122"/>
                <a:cs typeface="Arial" pitchFamily="34" charset="-120"/>
              </a:rPr>
              <a:t>Controladores</a:t>
            </a:r>
            <a:endParaRPr lang="en-US" sz="2250" dirty="0"/>
          </a:p>
        </p:txBody>
      </p:sp>
      <p:sp>
        <p:nvSpPr>
          <p:cNvPr id="9" name="Text 7"/>
          <p:cNvSpPr/>
          <p:nvPr/>
        </p:nvSpPr>
        <p:spPr>
          <a:xfrm>
            <a:off x="4438650" y="4601174"/>
            <a:ext cx="3054899" cy="285750"/>
          </a:xfrm>
          <a:prstGeom prst="rect">
            <a:avLst/>
          </a:prstGeom>
          <a:noFill/>
          <a:ln/>
        </p:spPr>
        <p:txBody>
          <a:bodyPr wrap="square" lIns="25400" tIns="25400" rIns="25400" bIns="25400" rtlCol="0" anchor="t">
            <a:normAutofit/>
          </a:bodyPr>
          <a:lstStyle/>
          <a:p>
            <a:pPr algn="l" indent="0" marL="0">
              <a:buNone/>
            </a:pPr>
            <a:r>
              <a:rPr lang="en-US" sz="1800" dirty="0">
                <a:solidFill>
                  <a:srgbClr val="6E665E"/>
                </a:solidFill>
                <a:latin typeface="Arial" pitchFamily="34" charset="0"/>
                <a:ea typeface="Arial" pitchFamily="34" charset="-122"/>
                <a:cs typeface="Arial" pitchFamily="34" charset="-120"/>
              </a:rPr>
              <a:t>Reciben las peticiones HTTP</a:t>
            </a:r>
            <a:endParaRPr lang="en-US" sz="1800" dirty="0"/>
          </a:p>
        </p:txBody>
      </p:sp>
      <p:sp>
        <p:nvSpPr>
          <p:cNvPr id="10" name="Shape 8"/>
          <p:cNvSpPr/>
          <p:nvPr/>
        </p:nvSpPr>
        <p:spPr>
          <a:xfrm>
            <a:off x="990600" y="5225061"/>
            <a:ext cx="8396139" cy="914400"/>
          </a:xfrm>
          <a:prstGeom prst="rect">
            <a:avLst/>
          </a:prstGeom>
          <a:solidFill>
            <a:srgbClr val="EBE3DB"/>
          </a:solidFill>
          <a:ln/>
        </p:spPr>
      </p:sp>
      <p:sp>
        <p:nvSpPr>
          <p:cNvPr id="11" name="Shape 9"/>
          <p:cNvSpPr/>
          <p:nvPr/>
        </p:nvSpPr>
        <p:spPr>
          <a:xfrm>
            <a:off x="990600" y="5225061"/>
            <a:ext cx="76200" cy="914400"/>
          </a:xfrm>
          <a:prstGeom prst="rect">
            <a:avLst/>
          </a:prstGeom>
          <a:solidFill>
            <a:srgbClr val="EE3B0D"/>
          </a:solidFill>
          <a:ln/>
        </p:spPr>
      </p:sp>
      <p:sp>
        <p:nvSpPr>
          <p:cNvPr id="12" name="Text 10"/>
          <p:cNvSpPr/>
          <p:nvPr/>
        </p:nvSpPr>
        <p:spPr>
          <a:xfrm>
            <a:off x="1352550" y="5525099"/>
            <a:ext cx="2943225" cy="352425"/>
          </a:xfrm>
          <a:prstGeom prst="rect">
            <a:avLst/>
          </a:prstGeom>
          <a:noFill/>
          <a:ln/>
        </p:spPr>
        <p:txBody>
          <a:bodyPr wrap="square" lIns="25400" tIns="25400" rIns="25400" bIns="25400" rtlCol="0" anchor="t">
            <a:normAutofit/>
          </a:bodyPr>
          <a:lstStyle/>
          <a:p>
            <a:pPr algn="l" indent="0" marL="0">
              <a:buNone/>
            </a:pPr>
            <a:r>
              <a:rPr lang="en-US" sz="2250" b="1" dirty="0">
                <a:solidFill>
                  <a:srgbClr val="1A1714"/>
                </a:solidFill>
                <a:latin typeface="Arial" pitchFamily="34" charset="0"/>
                <a:ea typeface="Arial" pitchFamily="34" charset="-122"/>
                <a:cs typeface="Arial" pitchFamily="34" charset="-120"/>
              </a:rPr>
              <a:t>Servicios</a:t>
            </a:r>
            <a:endParaRPr lang="en-US" sz="2250" dirty="0"/>
          </a:p>
        </p:txBody>
      </p:sp>
      <p:sp>
        <p:nvSpPr>
          <p:cNvPr id="13" name="Text 11"/>
          <p:cNvSpPr/>
          <p:nvPr/>
        </p:nvSpPr>
        <p:spPr>
          <a:xfrm>
            <a:off x="4438650" y="5434611"/>
            <a:ext cx="4802209" cy="533400"/>
          </a:xfrm>
          <a:prstGeom prst="rect">
            <a:avLst/>
          </a:prstGeom>
          <a:noFill/>
          <a:ln/>
        </p:spPr>
        <p:txBody>
          <a:bodyPr wrap="square" lIns="25400" tIns="25400" rIns="25400" bIns="25400" rtlCol="0" anchor="t">
            <a:normAutofit/>
          </a:bodyPr>
          <a:lstStyle/>
          <a:p>
            <a:pPr algn="l" indent="0" marL="0">
              <a:buNone/>
            </a:pPr>
            <a:r>
              <a:rPr lang="en-US" sz="1800" dirty="0">
                <a:solidFill>
                  <a:srgbClr val="6E665E"/>
                </a:solidFill>
                <a:latin typeface="Arial" pitchFamily="34" charset="0"/>
                <a:ea typeface="Arial" pitchFamily="34" charset="-122"/>
                <a:cs typeface="Arial" pitchFamily="34" charset="-120"/>
              </a:rPr>
              <a:t>La lógica: validaciones, mapeos, borrado lógico</a:t>
            </a:r>
            <a:endParaRPr lang="en-US" sz="1800" dirty="0"/>
          </a:p>
        </p:txBody>
      </p:sp>
      <p:sp>
        <p:nvSpPr>
          <p:cNvPr id="14" name="Shape 12"/>
          <p:cNvSpPr/>
          <p:nvPr/>
        </p:nvSpPr>
        <p:spPr>
          <a:xfrm>
            <a:off x="990600" y="6272811"/>
            <a:ext cx="8396139" cy="733425"/>
          </a:xfrm>
          <a:prstGeom prst="rect">
            <a:avLst/>
          </a:prstGeom>
          <a:solidFill>
            <a:srgbClr val="EBE3DB"/>
          </a:solidFill>
          <a:ln/>
        </p:spPr>
      </p:sp>
      <p:sp>
        <p:nvSpPr>
          <p:cNvPr id="15" name="Shape 13"/>
          <p:cNvSpPr/>
          <p:nvPr/>
        </p:nvSpPr>
        <p:spPr>
          <a:xfrm>
            <a:off x="990600" y="6272811"/>
            <a:ext cx="76200" cy="733425"/>
          </a:xfrm>
          <a:prstGeom prst="rect">
            <a:avLst/>
          </a:prstGeom>
          <a:solidFill>
            <a:srgbClr val="EE3B0D"/>
          </a:solidFill>
          <a:ln/>
        </p:spPr>
      </p:sp>
      <p:sp>
        <p:nvSpPr>
          <p:cNvPr id="16" name="Text 14"/>
          <p:cNvSpPr/>
          <p:nvPr/>
        </p:nvSpPr>
        <p:spPr>
          <a:xfrm>
            <a:off x="1352550" y="6482361"/>
            <a:ext cx="2943225" cy="352425"/>
          </a:xfrm>
          <a:prstGeom prst="rect">
            <a:avLst/>
          </a:prstGeom>
          <a:noFill/>
          <a:ln/>
        </p:spPr>
        <p:txBody>
          <a:bodyPr wrap="square" lIns="25400" tIns="25400" rIns="25400" bIns="25400" rtlCol="0" anchor="t">
            <a:normAutofit/>
          </a:bodyPr>
          <a:lstStyle/>
          <a:p>
            <a:pPr algn="l" indent="0" marL="0">
              <a:buNone/>
            </a:pPr>
            <a:r>
              <a:rPr lang="en-US" sz="2250" b="1" dirty="0">
                <a:solidFill>
                  <a:srgbClr val="1A1714"/>
                </a:solidFill>
                <a:latin typeface="Arial" pitchFamily="34" charset="0"/>
                <a:ea typeface="Arial" pitchFamily="34" charset="-122"/>
                <a:cs typeface="Arial" pitchFamily="34" charset="-120"/>
              </a:rPr>
              <a:t>Repositorios</a:t>
            </a:r>
            <a:endParaRPr lang="en-US" sz="2250" dirty="0"/>
          </a:p>
        </p:txBody>
      </p:sp>
      <p:sp>
        <p:nvSpPr>
          <p:cNvPr id="17" name="Text 15"/>
          <p:cNvSpPr/>
          <p:nvPr/>
        </p:nvSpPr>
        <p:spPr>
          <a:xfrm>
            <a:off x="4438650" y="6515699"/>
            <a:ext cx="2968212" cy="285750"/>
          </a:xfrm>
          <a:prstGeom prst="rect">
            <a:avLst/>
          </a:prstGeom>
          <a:noFill/>
          <a:ln/>
        </p:spPr>
        <p:txBody>
          <a:bodyPr wrap="square" lIns="25400" tIns="25400" rIns="25400" bIns="25400" rtlCol="0" anchor="t">
            <a:normAutofit/>
          </a:bodyPr>
          <a:lstStyle/>
          <a:p>
            <a:pPr algn="l" indent="0" marL="0">
              <a:buNone/>
            </a:pPr>
            <a:r>
              <a:rPr lang="en-US" sz="1800" dirty="0">
                <a:solidFill>
                  <a:srgbClr val="6E665E"/>
                </a:solidFill>
                <a:latin typeface="Arial" pitchFamily="34" charset="0"/>
                <a:ea typeface="Arial" pitchFamily="34" charset="-122"/>
                <a:cs typeface="Arial" pitchFamily="34" charset="-120"/>
              </a:rPr>
              <a:t>Hablan con la base de datos</a:t>
            </a:r>
            <a:endParaRPr lang="en-US" sz="1800" dirty="0"/>
          </a:p>
        </p:txBody>
      </p:sp>
      <p:sp>
        <p:nvSpPr>
          <p:cNvPr id="18" name="Shape 16"/>
          <p:cNvSpPr/>
          <p:nvPr/>
        </p:nvSpPr>
        <p:spPr>
          <a:xfrm>
            <a:off x="990600" y="7139586"/>
            <a:ext cx="8396139" cy="733425"/>
          </a:xfrm>
          <a:prstGeom prst="rect">
            <a:avLst/>
          </a:prstGeom>
          <a:solidFill>
            <a:srgbClr val="EBE3DB"/>
          </a:solidFill>
          <a:ln/>
        </p:spPr>
      </p:sp>
      <p:sp>
        <p:nvSpPr>
          <p:cNvPr id="19" name="Shape 17"/>
          <p:cNvSpPr/>
          <p:nvPr/>
        </p:nvSpPr>
        <p:spPr>
          <a:xfrm>
            <a:off x="990600" y="7139586"/>
            <a:ext cx="76200" cy="733425"/>
          </a:xfrm>
          <a:prstGeom prst="rect">
            <a:avLst/>
          </a:prstGeom>
          <a:solidFill>
            <a:srgbClr val="EE3B0D"/>
          </a:solidFill>
          <a:ln/>
        </p:spPr>
      </p:sp>
      <p:sp>
        <p:nvSpPr>
          <p:cNvPr id="20" name="Text 18"/>
          <p:cNvSpPr/>
          <p:nvPr/>
        </p:nvSpPr>
        <p:spPr>
          <a:xfrm>
            <a:off x="1352550" y="7349136"/>
            <a:ext cx="2943225" cy="352425"/>
          </a:xfrm>
          <a:prstGeom prst="rect">
            <a:avLst/>
          </a:prstGeom>
          <a:noFill/>
          <a:ln/>
        </p:spPr>
        <p:txBody>
          <a:bodyPr wrap="square" lIns="25400" tIns="25400" rIns="25400" bIns="25400" rtlCol="0" anchor="t">
            <a:normAutofit/>
          </a:bodyPr>
          <a:lstStyle/>
          <a:p>
            <a:pPr algn="l" indent="0" marL="0">
              <a:buNone/>
            </a:pPr>
            <a:r>
              <a:rPr lang="en-US" sz="2250" b="1" dirty="0">
                <a:solidFill>
                  <a:srgbClr val="1A1714"/>
                </a:solidFill>
                <a:latin typeface="Arial" pitchFamily="34" charset="0"/>
                <a:ea typeface="Arial" pitchFamily="34" charset="-122"/>
                <a:cs typeface="Arial" pitchFamily="34" charset="-120"/>
              </a:rPr>
              <a:t>Entidades</a:t>
            </a:r>
            <a:endParaRPr lang="en-US" sz="2250" dirty="0"/>
          </a:p>
        </p:txBody>
      </p:sp>
      <p:sp>
        <p:nvSpPr>
          <p:cNvPr id="21" name="Text 19"/>
          <p:cNvSpPr/>
          <p:nvPr/>
        </p:nvSpPr>
        <p:spPr>
          <a:xfrm>
            <a:off x="4438650" y="7382474"/>
            <a:ext cx="4125420" cy="285750"/>
          </a:xfrm>
          <a:prstGeom prst="rect">
            <a:avLst/>
          </a:prstGeom>
          <a:noFill/>
          <a:ln/>
        </p:spPr>
        <p:txBody>
          <a:bodyPr wrap="square" lIns="25400" tIns="25400" rIns="25400" bIns="25400" rtlCol="0" anchor="t">
            <a:normAutofit/>
          </a:bodyPr>
          <a:lstStyle/>
          <a:p>
            <a:pPr algn="l" indent="0" marL="0">
              <a:buNone/>
            </a:pPr>
            <a:r>
              <a:rPr lang="en-US" sz="1800" dirty="0">
                <a:solidFill>
                  <a:srgbClr val="6E665E"/>
                </a:solidFill>
                <a:latin typeface="Arial" pitchFamily="34" charset="0"/>
                <a:ea typeface="Arial" pitchFamily="34" charset="-122"/>
                <a:cs typeface="Arial" pitchFamily="34" charset="-120"/>
              </a:rPr>
              <a:t>Clases Java que representan las tablas</a:t>
            </a:r>
            <a:endParaRPr lang="en-US" sz="1800" dirty="0"/>
          </a:p>
        </p:txBody>
      </p:sp>
      <p:sp>
        <p:nvSpPr>
          <p:cNvPr id="22" name="Text 20"/>
          <p:cNvSpPr/>
          <p:nvPr/>
        </p:nvSpPr>
        <p:spPr>
          <a:xfrm>
            <a:off x="990600" y="8160909"/>
            <a:ext cx="271760" cy="309563"/>
          </a:xfrm>
          <a:prstGeom prst="rect">
            <a:avLst/>
          </a:prstGeom>
          <a:noFill/>
          <a:ln/>
        </p:spPr>
        <p:txBody>
          <a:bodyPr wrap="square" lIns="25400" tIns="25400" rIns="25400" bIns="25400" rtlCol="0" anchor="t">
            <a:normAutofit/>
          </a:bodyPr>
          <a:lstStyle/>
          <a:p>
            <a:pPr algn="l" indent="0" marL="0">
              <a:buNone/>
            </a:pPr>
            <a:r>
              <a:rPr lang="en-US" sz="1800" b="1" dirty="0">
                <a:solidFill>
                  <a:srgbClr val="EE3B0D"/>
                </a:solidFill>
                <a:latin typeface="Arial" pitchFamily="34" charset="0"/>
                <a:ea typeface="Arial" pitchFamily="34" charset="-122"/>
                <a:cs typeface="Arial" pitchFamily="34" charset="-120"/>
              </a:rPr>
              <a:t>▸</a:t>
            </a:r>
            <a:endParaRPr lang="en-US" sz="1800" dirty="0"/>
          </a:p>
        </p:txBody>
      </p:sp>
      <p:sp>
        <p:nvSpPr>
          <p:cNvPr id="23" name="Text 21"/>
          <p:cNvSpPr/>
          <p:nvPr/>
        </p:nvSpPr>
        <p:spPr>
          <a:xfrm>
            <a:off x="1319510" y="8160909"/>
            <a:ext cx="7943948" cy="285750"/>
          </a:xfrm>
          <a:prstGeom prst="rect">
            <a:avLst/>
          </a:prstGeom>
          <a:noFill/>
          <a:ln/>
        </p:spPr>
        <p:txBody>
          <a:bodyPr wrap="square" lIns="25400" tIns="25400" rIns="25400" bIns="25400" rtlCol="0" anchor="t">
            <a:normAutofit/>
          </a:bodyPr>
          <a:lstStyle/>
          <a:p>
            <a:pPr algn="l" indent="0" marL="0">
              <a:buNone/>
            </a:pPr>
            <a:r>
              <a:rPr lang="en-US" sz="1800" b="1" dirty="0">
                <a:solidFill>
                  <a:srgbClr val="1A1714"/>
                </a:solidFill>
                <a:latin typeface="Arial" pitchFamily="34" charset="0"/>
                <a:ea typeface="Arial" pitchFamily="34" charset="-122"/>
                <a:cs typeface="Arial" pitchFamily="34" charset="-120"/>
              </a:rPr>
              <a:t>Las tablas de seguridad están separadas del catálogo en la base de datos.</a:t>
            </a:r>
            <a:endParaRPr lang="en-US" sz="1800" dirty="0"/>
          </a:p>
        </p:txBody>
      </p:sp>
      <p:sp>
        <p:nvSpPr>
          <p:cNvPr id="24" name="Shape 22"/>
          <p:cNvSpPr/>
          <p:nvPr/>
        </p:nvSpPr>
        <p:spPr>
          <a:xfrm>
            <a:off x="9996339" y="2133600"/>
            <a:ext cx="7300987" cy="6477000"/>
          </a:xfrm>
          <a:prstGeom prst="roundRect">
            <a:avLst>
              <a:gd name="adj" fmla="val 1765"/>
            </a:avLst>
          </a:prstGeom>
          <a:solidFill>
            <a:srgbClr val="1A1714">
              <a:alpha val="4000"/>
            </a:srgbClr>
          </a:solidFill>
          <a:ln/>
        </p:spPr>
      </p:sp>
      <p:pic>
        <p:nvPicPr>
          <p:cNvPr id="25" name="Image 0" descr="preencoded.png">    </p:cNvPr>
          <p:cNvPicPr>
            <a:picLocks noChangeAspect="1"/>
          </p:cNvPicPr>
          <p:nvPr/>
        </p:nvPicPr>
        <p:blipFill>
          <a:blip r:embed="rId1"/>
          <a:srcRect l="0" r="0" t="-25609" b="-25609"/>
          <a:stretch/>
        </p:blipFill>
        <p:spPr>
          <a:xfrm>
            <a:off x="9996339" y="2133600"/>
            <a:ext cx="7300987" cy="6477000"/>
          </a:xfrm>
          <a:prstGeom prst="rect">
            <a:avLst/>
          </a:prstGeom>
        </p:spPr>
      </p:pic>
      <p:sp>
        <p:nvSpPr>
          <p:cNvPr id="26" name="Text 23"/>
          <p:cNvSpPr/>
          <p:nvPr/>
        </p:nvSpPr>
        <p:spPr>
          <a:xfrm>
            <a:off x="9996339" y="8724900"/>
            <a:ext cx="7116396" cy="28575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E665E"/>
                </a:solidFill>
                <a:latin typeface="Arial" pitchFamily="34" charset="0"/>
                <a:ea typeface="Arial" pitchFamily="34" charset="-122"/>
                <a:cs typeface="Arial" pitchFamily="34" charset="-120"/>
              </a:rPr>
              <a:t>MODELO DE CLASES · OBRAS, AUTORES, TÉCNICAS</a:t>
            </a:r>
            <a:endParaRPr lang="en-US" sz="1800" dirty="0"/>
          </a:p>
        </p:txBody>
      </p:sp>
      <p:sp>
        <p:nvSpPr>
          <p:cNvPr id="27" name="Text 24"/>
          <p:cNvSpPr/>
          <p:nvPr/>
        </p:nvSpPr>
        <p:spPr>
          <a:xfrm>
            <a:off x="990600" y="9525000"/>
            <a:ext cx="1259979" cy="2857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6E665E"/>
                </a:solidFill>
                <a:latin typeface="Arial" pitchFamily="34" charset="0"/>
                <a:ea typeface="Arial" pitchFamily="34" charset="-122"/>
                <a:cs typeface="Arial" pitchFamily="34" charset="-120"/>
              </a:rPr>
              <a:t>El backend</a:t>
            </a:r>
            <a:endParaRPr lang="en-US" sz="1800" dirty="0"/>
          </a:p>
        </p:txBody>
      </p:sp>
      <p:sp>
        <p:nvSpPr>
          <p:cNvPr id="28" name="Text 25"/>
          <p:cNvSpPr/>
          <p:nvPr/>
        </p:nvSpPr>
        <p:spPr>
          <a:xfrm>
            <a:off x="16575658" y="9525000"/>
            <a:ext cx="797942" cy="28575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1A1714"/>
                </a:solidFill>
                <a:latin typeface="Arial" pitchFamily="34" charset="0"/>
                <a:ea typeface="Arial" pitchFamily="34" charset="-122"/>
                <a:cs typeface="Arial" pitchFamily="34" charset="-120"/>
              </a:rPr>
              <a:t>07 </a:t>
            </a:r>
            <a:pPr algn="l" indent="0" marL="0">
              <a:buNone/>
            </a:pPr>
            <a:r>
              <a:rPr lang="en-US" sz="1800" spc="36" kern="0" dirty="0">
                <a:solidFill>
                  <a:srgbClr val="6E665E"/>
                </a:solidFill>
                <a:latin typeface="Arial" pitchFamily="34" charset="0"/>
                <a:ea typeface="Arial" pitchFamily="34" charset="-122"/>
                <a:cs typeface="Arial" pitchFamily="34" charset="-120"/>
              </a:rPr>
              <a:t>/ 15</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DE7"/>
        </a:solidFill>
      </p:bgPr>
    </p:bg>
    <p:spTree>
      <p:nvGrpSpPr>
        <p:cNvPr id="1" name=""/>
        <p:cNvGrpSpPr/>
        <p:nvPr/>
      </p:nvGrpSpPr>
      <p:grpSpPr>
        <a:xfrm>
          <a:off x="0" y="0"/>
          <a:ext cx="0" cy="0"/>
          <a:chOff x="0" y="0"/>
          <a:chExt cx="0" cy="0"/>
        </a:xfrm>
      </p:grpSpPr>
      <p:sp>
        <p:nvSpPr>
          <p:cNvPr id="2" name="Shape 0"/>
          <p:cNvSpPr/>
          <p:nvPr/>
        </p:nvSpPr>
        <p:spPr>
          <a:xfrm>
            <a:off x="0" y="0"/>
            <a:ext cx="18288000" cy="66675"/>
          </a:xfrm>
          <a:prstGeom prst="rect">
            <a:avLst/>
          </a:prstGeom>
          <a:solidFill>
            <a:srgbClr val="3D2BB0"/>
          </a:solidFill>
          <a:ln/>
        </p:spPr>
      </p:sp>
      <p:sp>
        <p:nvSpPr>
          <p:cNvPr id="3" name="Text 1"/>
          <p:cNvSpPr/>
          <p:nvPr/>
        </p:nvSpPr>
        <p:spPr>
          <a:xfrm>
            <a:off x="990600" y="590550"/>
            <a:ext cx="460549"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EE3B0D"/>
                </a:solidFill>
                <a:latin typeface="Arial" pitchFamily="34" charset="0"/>
                <a:ea typeface="Arial" pitchFamily="34" charset="-122"/>
                <a:cs typeface="Arial" pitchFamily="34" charset="-120"/>
              </a:rPr>
              <a:t>08</a:t>
            </a:r>
            <a:endParaRPr lang="en-US" sz="1875" dirty="0"/>
          </a:p>
        </p:txBody>
      </p:sp>
      <p:sp>
        <p:nvSpPr>
          <p:cNvPr id="4" name="Text 2"/>
          <p:cNvSpPr/>
          <p:nvPr/>
        </p:nvSpPr>
        <p:spPr>
          <a:xfrm>
            <a:off x="1546399" y="590550"/>
            <a:ext cx="6025103"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1A1714"/>
                </a:solidFill>
                <a:latin typeface="Arial" pitchFamily="34" charset="0"/>
                <a:ea typeface="Arial" pitchFamily="34" charset="-122"/>
                <a:cs typeface="Arial" pitchFamily="34" charset="-120"/>
              </a:rPr>
              <a:t>SEGURIDAD · SPRING SECURITY + JWT</a:t>
            </a:r>
            <a:endParaRPr lang="en-US" sz="1875" dirty="0"/>
          </a:p>
        </p:txBody>
      </p:sp>
      <p:sp>
        <p:nvSpPr>
          <p:cNvPr id="5" name="Text 3"/>
          <p:cNvSpPr/>
          <p:nvPr/>
        </p:nvSpPr>
        <p:spPr>
          <a:xfrm>
            <a:off x="990600" y="1600200"/>
            <a:ext cx="16796004" cy="1720453"/>
          </a:xfrm>
          <a:prstGeom prst="rect">
            <a:avLst/>
          </a:prstGeom>
          <a:noFill/>
          <a:ln/>
        </p:spPr>
        <p:txBody>
          <a:bodyPr wrap="square" lIns="25400" tIns="25400" rIns="25400" bIns="25400" rtlCol="0" anchor="t">
            <a:normAutofit/>
          </a:bodyPr>
          <a:lstStyle/>
          <a:p>
            <a:pPr algn="l" indent="0" marL="0">
              <a:lnSpc>
                <a:spcPct val="96000"/>
              </a:lnSpc>
              <a:buNone/>
            </a:pPr>
            <a:r>
              <a:rPr lang="en-US" sz="6900" b="1" spc="-152" kern="0" dirty="0">
                <a:solidFill>
                  <a:srgbClr val="1A1714"/>
                </a:solidFill>
                <a:latin typeface="Arial" pitchFamily="34" charset="0"/>
                <a:ea typeface="Arial" pitchFamily="34" charset="-122"/>
                <a:cs typeface="Arial" pitchFamily="34" charset="-120"/>
              </a:rPr>
              <a:t>Solo los administradores modifican el catálogo</a:t>
            </a:r>
            <a:endParaRPr lang="en-US" sz="6900" dirty="0"/>
          </a:p>
        </p:txBody>
      </p:sp>
      <p:sp>
        <p:nvSpPr>
          <p:cNvPr id="6" name="Shape 4"/>
          <p:cNvSpPr/>
          <p:nvPr/>
        </p:nvSpPr>
        <p:spPr>
          <a:xfrm>
            <a:off x="990600" y="3796952"/>
            <a:ext cx="4851350" cy="2144986"/>
          </a:xfrm>
          <a:prstGeom prst="rect">
            <a:avLst/>
          </a:prstGeom>
          <a:solidFill>
            <a:srgbClr val="EBE3DB"/>
          </a:solidFill>
          <a:ln/>
        </p:spPr>
      </p:sp>
      <p:sp>
        <p:nvSpPr>
          <p:cNvPr id="7" name="Shape 5"/>
          <p:cNvSpPr/>
          <p:nvPr/>
        </p:nvSpPr>
        <p:spPr>
          <a:xfrm>
            <a:off x="990600" y="3796952"/>
            <a:ext cx="4851350" cy="57150"/>
          </a:xfrm>
          <a:prstGeom prst="rect">
            <a:avLst/>
          </a:prstGeom>
          <a:solidFill>
            <a:srgbClr val="EE3B0D"/>
          </a:solidFill>
          <a:ln/>
        </p:spPr>
      </p:sp>
      <p:sp>
        <p:nvSpPr>
          <p:cNvPr id="8" name="Text 6"/>
          <p:cNvSpPr/>
          <p:nvPr/>
        </p:nvSpPr>
        <p:spPr>
          <a:xfrm>
            <a:off x="1276350" y="4177952"/>
            <a:ext cx="4408246" cy="28575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EE3B0D"/>
                </a:solidFill>
                <a:latin typeface="Arial" pitchFamily="34" charset="0"/>
                <a:ea typeface="Arial" pitchFamily="34" charset="-122"/>
                <a:cs typeface="Arial" pitchFamily="34" charset="-120"/>
              </a:rPr>
              <a:t>01 · LOGIN</a:t>
            </a:r>
            <a:endParaRPr lang="en-US" sz="1800" dirty="0"/>
          </a:p>
        </p:txBody>
      </p:sp>
      <p:sp>
        <p:nvSpPr>
          <p:cNvPr id="9" name="Text 7"/>
          <p:cNvSpPr/>
          <p:nvPr/>
        </p:nvSpPr>
        <p:spPr>
          <a:xfrm>
            <a:off x="1276350" y="4558952"/>
            <a:ext cx="4408246" cy="346695"/>
          </a:xfrm>
          <a:prstGeom prst="rect">
            <a:avLst/>
          </a:prstGeom>
          <a:noFill/>
          <a:ln/>
        </p:spPr>
        <p:txBody>
          <a:bodyPr wrap="square" lIns="25400" tIns="25400" rIns="25400" bIns="25400" rtlCol="0" anchor="t">
            <a:normAutofit/>
          </a:bodyPr>
          <a:lstStyle/>
          <a:p>
            <a:pPr algn="l" indent="0" marL="0">
              <a:lnSpc>
                <a:spcPct val="108000"/>
              </a:lnSpc>
              <a:buNone/>
            </a:pPr>
            <a:r>
              <a:rPr lang="en-US" sz="2250" b="1" dirty="0">
                <a:solidFill>
                  <a:srgbClr val="1A1714"/>
                </a:solidFill>
                <a:latin typeface="Arial" pitchFamily="34" charset="0"/>
                <a:ea typeface="Arial" pitchFamily="34" charset="-122"/>
                <a:cs typeface="Arial" pitchFamily="34" charset="-120"/>
              </a:rPr>
              <a:t>Correo y contraseña</a:t>
            </a:r>
            <a:endParaRPr lang="en-US" sz="2250" dirty="0"/>
          </a:p>
        </p:txBody>
      </p:sp>
      <p:sp>
        <p:nvSpPr>
          <p:cNvPr id="10" name="Text 8"/>
          <p:cNvSpPr/>
          <p:nvPr/>
        </p:nvSpPr>
        <p:spPr>
          <a:xfrm>
            <a:off x="1276350" y="5000897"/>
            <a:ext cx="4408246" cy="65529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6E665E"/>
                </a:solidFill>
                <a:latin typeface="Arial" pitchFamily="34" charset="0"/>
                <a:ea typeface="Arial" pitchFamily="34" charset="-122"/>
                <a:cs typeface="Arial" pitchFamily="34" charset="-120"/>
              </a:rPr>
              <a:t>El servidor devuelve un token de acceso y un refresh token.</a:t>
            </a:r>
            <a:endParaRPr lang="en-US" sz="1800" dirty="0"/>
          </a:p>
        </p:txBody>
      </p:sp>
      <p:sp>
        <p:nvSpPr>
          <p:cNvPr id="11" name="Text 9"/>
          <p:cNvSpPr/>
          <p:nvPr/>
        </p:nvSpPr>
        <p:spPr>
          <a:xfrm>
            <a:off x="6051500" y="3796952"/>
            <a:ext cx="533400" cy="2183086"/>
          </a:xfrm>
          <a:prstGeom prst="rect">
            <a:avLst/>
          </a:prstGeom>
          <a:noFill/>
          <a:ln/>
        </p:spPr>
        <p:txBody>
          <a:bodyPr wrap="square" lIns="25400" tIns="25400" rIns="25400" bIns="25400" rtlCol="0" anchor="ctr">
            <a:normAutofit/>
          </a:bodyPr>
          <a:lstStyle/>
          <a:p>
            <a:pPr algn="l" indent="0" marL="0">
              <a:buNone/>
            </a:pPr>
            <a:r>
              <a:rPr lang="en-US" sz="3600" dirty="0">
                <a:solidFill>
                  <a:srgbClr val="1A1714"/>
                </a:solidFill>
                <a:latin typeface="Arial" pitchFamily="34" charset="0"/>
                <a:ea typeface="Arial" pitchFamily="34" charset="-122"/>
                <a:cs typeface="Arial" pitchFamily="34" charset="-120"/>
              </a:rPr>
              <a:t>→</a:t>
            </a:r>
            <a:endParaRPr lang="en-US" sz="3600" dirty="0"/>
          </a:p>
        </p:txBody>
      </p:sp>
      <p:sp>
        <p:nvSpPr>
          <p:cNvPr id="12" name="Shape 10"/>
          <p:cNvSpPr/>
          <p:nvPr/>
        </p:nvSpPr>
        <p:spPr>
          <a:xfrm>
            <a:off x="6718250" y="3796952"/>
            <a:ext cx="4851425" cy="2144986"/>
          </a:xfrm>
          <a:prstGeom prst="rect">
            <a:avLst/>
          </a:prstGeom>
          <a:solidFill>
            <a:srgbClr val="EBE3DB"/>
          </a:solidFill>
          <a:ln/>
        </p:spPr>
      </p:sp>
      <p:sp>
        <p:nvSpPr>
          <p:cNvPr id="13" name="Shape 11"/>
          <p:cNvSpPr/>
          <p:nvPr/>
        </p:nvSpPr>
        <p:spPr>
          <a:xfrm>
            <a:off x="6718250" y="3796952"/>
            <a:ext cx="4851425" cy="57150"/>
          </a:xfrm>
          <a:prstGeom prst="rect">
            <a:avLst/>
          </a:prstGeom>
          <a:solidFill>
            <a:srgbClr val="EE3B0D"/>
          </a:solidFill>
          <a:ln/>
        </p:spPr>
      </p:sp>
      <p:sp>
        <p:nvSpPr>
          <p:cNvPr id="14" name="Text 12"/>
          <p:cNvSpPr/>
          <p:nvPr/>
        </p:nvSpPr>
        <p:spPr>
          <a:xfrm>
            <a:off x="7004000" y="4177952"/>
            <a:ext cx="4408323" cy="28575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EE3B0D"/>
                </a:solidFill>
                <a:latin typeface="Arial" pitchFamily="34" charset="0"/>
                <a:ea typeface="Arial" pitchFamily="34" charset="-122"/>
                <a:cs typeface="Arial" pitchFamily="34" charset="-120"/>
              </a:rPr>
              <a:t>02 · TOKEN</a:t>
            </a:r>
            <a:endParaRPr lang="en-US" sz="1800" dirty="0"/>
          </a:p>
        </p:txBody>
      </p:sp>
      <p:sp>
        <p:nvSpPr>
          <p:cNvPr id="15" name="Text 13"/>
          <p:cNvSpPr/>
          <p:nvPr/>
        </p:nvSpPr>
        <p:spPr>
          <a:xfrm>
            <a:off x="7004000" y="4558952"/>
            <a:ext cx="4408323" cy="346695"/>
          </a:xfrm>
          <a:prstGeom prst="rect">
            <a:avLst/>
          </a:prstGeom>
          <a:noFill/>
          <a:ln/>
        </p:spPr>
        <p:txBody>
          <a:bodyPr wrap="square" lIns="25400" tIns="25400" rIns="25400" bIns="25400" rtlCol="0" anchor="t">
            <a:normAutofit/>
          </a:bodyPr>
          <a:lstStyle/>
          <a:p>
            <a:pPr algn="l" indent="0" marL="0">
              <a:lnSpc>
                <a:spcPct val="108000"/>
              </a:lnSpc>
              <a:buNone/>
            </a:pPr>
            <a:r>
              <a:rPr lang="en-US" sz="2250" b="1" dirty="0">
                <a:solidFill>
                  <a:srgbClr val="1A1714"/>
                </a:solidFill>
                <a:latin typeface="Arial" pitchFamily="34" charset="0"/>
                <a:ea typeface="Arial" pitchFamily="34" charset="-122"/>
                <a:cs typeface="Arial" pitchFamily="34" charset="-120"/>
              </a:rPr>
              <a:t>Acceso de 15 min</a:t>
            </a:r>
            <a:endParaRPr lang="en-US" sz="2250" dirty="0"/>
          </a:p>
        </p:txBody>
      </p:sp>
      <p:sp>
        <p:nvSpPr>
          <p:cNvPr id="16" name="Text 14"/>
          <p:cNvSpPr/>
          <p:nvPr/>
        </p:nvSpPr>
        <p:spPr>
          <a:xfrm>
            <a:off x="7004000" y="5000897"/>
            <a:ext cx="4408323" cy="65529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6E665E"/>
                </a:solidFill>
                <a:latin typeface="Arial" pitchFamily="34" charset="0"/>
                <a:ea typeface="Arial" pitchFamily="34" charset="-122"/>
                <a:cs typeface="Arial" pitchFamily="34" charset="-120"/>
              </a:rPr>
              <a:t>Caduca enseguida; el refresh lo renueva sin reescribir credenciales.</a:t>
            </a:r>
            <a:endParaRPr lang="en-US" sz="1800" dirty="0"/>
          </a:p>
        </p:txBody>
      </p:sp>
      <p:sp>
        <p:nvSpPr>
          <p:cNvPr id="17" name="Text 15"/>
          <p:cNvSpPr/>
          <p:nvPr/>
        </p:nvSpPr>
        <p:spPr>
          <a:xfrm>
            <a:off x="11779225" y="3796952"/>
            <a:ext cx="533400" cy="2183086"/>
          </a:xfrm>
          <a:prstGeom prst="rect">
            <a:avLst/>
          </a:prstGeom>
          <a:noFill/>
          <a:ln/>
        </p:spPr>
        <p:txBody>
          <a:bodyPr wrap="square" lIns="25400" tIns="25400" rIns="25400" bIns="25400" rtlCol="0" anchor="ctr">
            <a:normAutofit/>
          </a:bodyPr>
          <a:lstStyle/>
          <a:p>
            <a:pPr algn="l" indent="0" marL="0">
              <a:buNone/>
            </a:pPr>
            <a:r>
              <a:rPr lang="en-US" sz="3600" dirty="0">
                <a:solidFill>
                  <a:srgbClr val="1A1714"/>
                </a:solidFill>
                <a:latin typeface="Arial" pitchFamily="34" charset="0"/>
                <a:ea typeface="Arial" pitchFamily="34" charset="-122"/>
                <a:cs typeface="Arial" pitchFamily="34" charset="-120"/>
              </a:rPr>
              <a:t>→</a:t>
            </a:r>
            <a:endParaRPr lang="en-US" sz="3600" dirty="0"/>
          </a:p>
        </p:txBody>
      </p:sp>
      <p:sp>
        <p:nvSpPr>
          <p:cNvPr id="18" name="Shape 16"/>
          <p:cNvSpPr/>
          <p:nvPr/>
        </p:nvSpPr>
        <p:spPr>
          <a:xfrm>
            <a:off x="12445975" y="3796952"/>
            <a:ext cx="4851425" cy="2144986"/>
          </a:xfrm>
          <a:prstGeom prst="rect">
            <a:avLst/>
          </a:prstGeom>
          <a:solidFill>
            <a:srgbClr val="EBE3DB"/>
          </a:solidFill>
          <a:ln/>
        </p:spPr>
      </p:sp>
      <p:sp>
        <p:nvSpPr>
          <p:cNvPr id="19" name="Shape 17"/>
          <p:cNvSpPr/>
          <p:nvPr/>
        </p:nvSpPr>
        <p:spPr>
          <a:xfrm>
            <a:off x="12445975" y="3796952"/>
            <a:ext cx="4851425" cy="57150"/>
          </a:xfrm>
          <a:prstGeom prst="rect">
            <a:avLst/>
          </a:prstGeom>
          <a:solidFill>
            <a:srgbClr val="EE3B0D"/>
          </a:solidFill>
          <a:ln/>
        </p:spPr>
      </p:sp>
      <p:sp>
        <p:nvSpPr>
          <p:cNvPr id="20" name="Text 18"/>
          <p:cNvSpPr/>
          <p:nvPr/>
        </p:nvSpPr>
        <p:spPr>
          <a:xfrm>
            <a:off x="12731725" y="4177952"/>
            <a:ext cx="4408323" cy="28575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EE3B0D"/>
                </a:solidFill>
                <a:latin typeface="Arial" pitchFamily="34" charset="0"/>
                <a:ea typeface="Arial" pitchFamily="34" charset="-122"/>
                <a:cs typeface="Arial" pitchFamily="34" charset="-120"/>
              </a:rPr>
              <a:t>03 · FILTRO</a:t>
            </a:r>
            <a:endParaRPr lang="en-US" sz="1800" dirty="0"/>
          </a:p>
        </p:txBody>
      </p:sp>
      <p:sp>
        <p:nvSpPr>
          <p:cNvPr id="21" name="Text 19"/>
          <p:cNvSpPr/>
          <p:nvPr/>
        </p:nvSpPr>
        <p:spPr>
          <a:xfrm>
            <a:off x="12731725" y="4558952"/>
            <a:ext cx="4408323" cy="346695"/>
          </a:xfrm>
          <a:prstGeom prst="rect">
            <a:avLst/>
          </a:prstGeom>
          <a:noFill/>
          <a:ln/>
        </p:spPr>
        <p:txBody>
          <a:bodyPr wrap="square" lIns="25400" tIns="25400" rIns="25400" bIns="25400" rtlCol="0" anchor="t">
            <a:normAutofit/>
          </a:bodyPr>
          <a:lstStyle/>
          <a:p>
            <a:pPr algn="l" indent="0" marL="0">
              <a:lnSpc>
                <a:spcPct val="108000"/>
              </a:lnSpc>
              <a:buNone/>
            </a:pPr>
            <a:r>
              <a:rPr lang="en-US" sz="2250" b="1" dirty="0">
                <a:solidFill>
                  <a:srgbClr val="1A1714"/>
                </a:solidFill>
                <a:latin typeface="Arial" pitchFamily="34" charset="0"/>
                <a:ea typeface="Arial" pitchFamily="34" charset="-122"/>
                <a:cs typeface="Arial" pitchFamily="34" charset="-120"/>
              </a:rPr>
              <a:t>Valida cada petición</a:t>
            </a:r>
            <a:endParaRPr lang="en-US" sz="2250" dirty="0"/>
          </a:p>
        </p:txBody>
      </p:sp>
      <p:sp>
        <p:nvSpPr>
          <p:cNvPr id="22" name="Text 20"/>
          <p:cNvSpPr/>
          <p:nvPr/>
        </p:nvSpPr>
        <p:spPr>
          <a:xfrm>
            <a:off x="12731725" y="5000897"/>
            <a:ext cx="4408323" cy="65529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6E665E"/>
                </a:solidFill>
                <a:latin typeface="Arial" pitchFamily="34" charset="0"/>
                <a:ea typeface="Arial" pitchFamily="34" charset="-122"/>
                <a:cs typeface="Arial" pitchFamily="34" charset="-120"/>
              </a:rPr>
              <a:t>Sin token o caducado, el servidor responde con error y no deja pasar.</a:t>
            </a:r>
            <a:endParaRPr lang="en-US" sz="1800" dirty="0"/>
          </a:p>
        </p:txBody>
      </p:sp>
      <p:sp>
        <p:nvSpPr>
          <p:cNvPr id="23" name="Text 21"/>
          <p:cNvSpPr/>
          <p:nvPr/>
        </p:nvSpPr>
        <p:spPr>
          <a:xfrm>
            <a:off x="990600" y="6325583"/>
            <a:ext cx="4417827" cy="300038"/>
          </a:xfrm>
          <a:prstGeom prst="rect">
            <a:avLst/>
          </a:prstGeom>
          <a:noFill/>
          <a:ln/>
        </p:spPr>
        <p:txBody>
          <a:bodyPr wrap="square" lIns="25400" tIns="25400" rIns="25400" bIns="25400" rtlCol="0" anchor="t">
            <a:normAutofit/>
          </a:bodyPr>
          <a:lstStyle/>
          <a:p>
            <a:pPr algn="l" indent="0" marL="0">
              <a:buNone/>
            </a:pPr>
            <a:r>
              <a:rPr lang="en-US" sz="1875" b="1" dirty="0">
                <a:solidFill>
                  <a:srgbClr val="EE3B0D"/>
                </a:solidFill>
                <a:latin typeface="Arial" pitchFamily="34" charset="0"/>
                <a:ea typeface="Arial" pitchFamily="34" charset="-122"/>
                <a:cs typeface="Arial" pitchFamily="34" charset="-120"/>
              </a:rPr>
              <a:t>BCrypt </a:t>
            </a:r>
            <a:pPr algn="l" indent="0" marL="0">
              <a:buNone/>
            </a:pPr>
            <a:r>
              <a:rPr lang="en-US" sz="1875" b="1" dirty="0">
                <a:solidFill>
                  <a:srgbClr val="1A1714"/>
                </a:solidFill>
                <a:latin typeface="Arial" pitchFamily="34" charset="0"/>
                <a:ea typeface="Arial" pitchFamily="34" charset="-122"/>
                <a:cs typeface="Arial" pitchFamily="34" charset="-120"/>
              </a:rPr>
              <a:t>· contraseñas siempre cifradas</a:t>
            </a:r>
            <a:endParaRPr lang="en-US" sz="1875" dirty="0"/>
          </a:p>
        </p:txBody>
      </p:sp>
      <p:sp>
        <p:nvSpPr>
          <p:cNvPr id="24" name="Text 22"/>
          <p:cNvSpPr/>
          <p:nvPr/>
        </p:nvSpPr>
        <p:spPr>
          <a:xfrm>
            <a:off x="5736952" y="6325583"/>
            <a:ext cx="3856698" cy="300038"/>
          </a:xfrm>
          <a:prstGeom prst="rect">
            <a:avLst/>
          </a:prstGeom>
          <a:noFill/>
          <a:ln/>
        </p:spPr>
        <p:txBody>
          <a:bodyPr wrap="square" lIns="25400" tIns="25400" rIns="25400" bIns="25400" rtlCol="0" anchor="t">
            <a:normAutofit/>
          </a:bodyPr>
          <a:lstStyle/>
          <a:p>
            <a:pPr algn="l" indent="0" marL="0">
              <a:buNone/>
            </a:pPr>
            <a:r>
              <a:rPr lang="en-US" sz="1875" b="1" dirty="0">
                <a:solidFill>
                  <a:srgbClr val="EE3B0D"/>
                </a:solidFill>
                <a:latin typeface="Arial" pitchFamily="34" charset="0"/>
                <a:ea typeface="Arial" pitchFamily="34" charset="-122"/>
                <a:cs typeface="Arial" pitchFamily="34" charset="-120"/>
              </a:rPr>
              <a:t>CORS </a:t>
            </a:r>
            <a:pPr algn="l" indent="0" marL="0">
              <a:buNone/>
            </a:pPr>
            <a:r>
              <a:rPr lang="en-US" sz="1875" b="1" dirty="0">
                <a:solidFill>
                  <a:srgbClr val="1A1714"/>
                </a:solidFill>
                <a:latin typeface="Arial" pitchFamily="34" charset="0"/>
                <a:ea typeface="Arial" pitchFamily="34" charset="-122"/>
                <a:cs typeface="Arial" pitchFamily="34" charset="-120"/>
              </a:rPr>
              <a:t>· solo orígenes autorizados</a:t>
            </a:r>
            <a:endParaRPr lang="en-US" sz="1875" dirty="0"/>
          </a:p>
        </p:txBody>
      </p:sp>
      <p:sp>
        <p:nvSpPr>
          <p:cNvPr id="25" name="Text 23"/>
          <p:cNvSpPr/>
          <p:nvPr/>
        </p:nvSpPr>
        <p:spPr>
          <a:xfrm>
            <a:off x="990600" y="9525000"/>
            <a:ext cx="1182886" cy="2857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6E665E"/>
                </a:solidFill>
                <a:latin typeface="Arial" pitchFamily="34" charset="0"/>
                <a:ea typeface="Arial" pitchFamily="34" charset="-122"/>
                <a:cs typeface="Arial" pitchFamily="34" charset="-120"/>
              </a:rPr>
              <a:t>Seguridad</a:t>
            </a:r>
            <a:endParaRPr lang="en-US" sz="1800" dirty="0"/>
          </a:p>
        </p:txBody>
      </p:sp>
      <p:sp>
        <p:nvSpPr>
          <p:cNvPr id="26" name="Text 24"/>
          <p:cNvSpPr/>
          <p:nvPr/>
        </p:nvSpPr>
        <p:spPr>
          <a:xfrm>
            <a:off x="16575658" y="9525000"/>
            <a:ext cx="797942" cy="28575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1A1714"/>
                </a:solidFill>
                <a:latin typeface="Arial" pitchFamily="34" charset="0"/>
                <a:ea typeface="Arial" pitchFamily="34" charset="-122"/>
                <a:cs typeface="Arial" pitchFamily="34" charset="-120"/>
              </a:rPr>
              <a:t>08 </a:t>
            </a:r>
            <a:pPr algn="l" indent="0" marL="0">
              <a:buNone/>
            </a:pPr>
            <a:r>
              <a:rPr lang="en-US" sz="1800" spc="36" kern="0" dirty="0">
                <a:solidFill>
                  <a:srgbClr val="6E665E"/>
                </a:solidFill>
                <a:latin typeface="Arial" pitchFamily="34" charset="0"/>
                <a:ea typeface="Arial" pitchFamily="34" charset="-122"/>
                <a:cs typeface="Arial" pitchFamily="34" charset="-120"/>
              </a:rPr>
              <a:t>/ 15</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DE7"/>
        </a:solidFill>
      </p:bgPr>
    </p:bg>
    <p:spTree>
      <p:nvGrpSpPr>
        <p:cNvPr id="1" name=""/>
        <p:cNvGrpSpPr/>
        <p:nvPr/>
      </p:nvGrpSpPr>
      <p:grpSpPr>
        <a:xfrm>
          <a:off x="0" y="0"/>
          <a:ext cx="0" cy="0"/>
          <a:chOff x="0" y="0"/>
          <a:chExt cx="0" cy="0"/>
        </a:xfrm>
      </p:grpSpPr>
      <p:sp>
        <p:nvSpPr>
          <p:cNvPr id="2" name="Shape 0"/>
          <p:cNvSpPr/>
          <p:nvPr/>
        </p:nvSpPr>
        <p:spPr>
          <a:xfrm>
            <a:off x="0" y="0"/>
            <a:ext cx="18288000" cy="66675"/>
          </a:xfrm>
          <a:prstGeom prst="rect">
            <a:avLst/>
          </a:prstGeom>
          <a:solidFill>
            <a:srgbClr val="3D2BB0"/>
          </a:solidFill>
          <a:ln/>
        </p:spPr>
      </p:sp>
      <p:sp>
        <p:nvSpPr>
          <p:cNvPr id="3" name="Text 1"/>
          <p:cNvSpPr/>
          <p:nvPr/>
        </p:nvSpPr>
        <p:spPr>
          <a:xfrm>
            <a:off x="990600" y="590550"/>
            <a:ext cx="460549"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EE3B0D"/>
                </a:solidFill>
                <a:latin typeface="Arial" pitchFamily="34" charset="0"/>
                <a:ea typeface="Arial" pitchFamily="34" charset="-122"/>
                <a:cs typeface="Arial" pitchFamily="34" charset="-120"/>
              </a:rPr>
              <a:t>09</a:t>
            </a:r>
            <a:endParaRPr lang="en-US" sz="1875" dirty="0"/>
          </a:p>
        </p:txBody>
      </p:sp>
      <p:sp>
        <p:nvSpPr>
          <p:cNvPr id="4" name="Text 2"/>
          <p:cNvSpPr/>
          <p:nvPr/>
        </p:nvSpPr>
        <p:spPr>
          <a:xfrm>
            <a:off x="1546399" y="590550"/>
            <a:ext cx="2208088"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1A1714"/>
                </a:solidFill>
                <a:latin typeface="Arial" pitchFamily="34" charset="0"/>
                <a:ea typeface="Arial" pitchFamily="34" charset="-122"/>
                <a:cs typeface="Arial" pitchFamily="34" charset="-120"/>
              </a:rPr>
              <a:t>EL FRONTEND</a:t>
            </a:r>
            <a:endParaRPr lang="en-US" sz="1875" dirty="0"/>
          </a:p>
        </p:txBody>
      </p:sp>
      <p:sp>
        <p:nvSpPr>
          <p:cNvPr id="5" name="Text 3"/>
          <p:cNvSpPr/>
          <p:nvPr/>
        </p:nvSpPr>
        <p:spPr>
          <a:xfrm>
            <a:off x="990600" y="1600200"/>
            <a:ext cx="16796004" cy="1720453"/>
          </a:xfrm>
          <a:prstGeom prst="rect">
            <a:avLst/>
          </a:prstGeom>
          <a:noFill/>
          <a:ln/>
        </p:spPr>
        <p:txBody>
          <a:bodyPr wrap="square" lIns="25400" tIns="25400" rIns="25400" bIns="25400" rtlCol="0" anchor="t">
            <a:normAutofit/>
          </a:bodyPr>
          <a:lstStyle/>
          <a:p>
            <a:pPr algn="l" indent="0" marL="0">
              <a:lnSpc>
                <a:spcPct val="96000"/>
              </a:lnSpc>
              <a:buNone/>
            </a:pPr>
            <a:r>
              <a:rPr lang="en-US" sz="6900" b="1" spc="-152" kern="0" dirty="0">
                <a:solidFill>
                  <a:srgbClr val="1A1714"/>
                </a:solidFill>
                <a:latin typeface="Arial" pitchFamily="34" charset="0"/>
                <a:ea typeface="Arial" pitchFamily="34" charset="-122"/>
                <a:cs typeface="Arial" pitchFamily="34" charset="-120"/>
              </a:rPr>
              <a:t>Angular, con las </a:t>
            </a:r>
            <a:pPr algn="l" indent="0" marL="0">
              <a:lnSpc>
                <a:spcPct val="96000"/>
              </a:lnSpc>
              <a:buNone/>
            </a:pPr>
            <a:r>
              <a:rPr lang="en-US" sz="6900" b="1" spc="-152" kern="0" dirty="0">
                <a:solidFill>
                  <a:srgbClr val="EE3B0D"/>
                </a:solidFill>
                <a:latin typeface="Arial" pitchFamily="34" charset="0"/>
                <a:ea typeface="Arial" pitchFamily="34" charset="-122"/>
                <a:cs typeface="Arial" pitchFamily="34" charset="-120"/>
              </a:rPr>
              <a:t>responsabilidades separadas</a:t>
            </a:r>
            <a:endParaRPr lang="en-US" sz="6900" dirty="0"/>
          </a:p>
        </p:txBody>
      </p:sp>
      <p:sp>
        <p:nvSpPr>
          <p:cNvPr id="6" name="Shape 4"/>
          <p:cNvSpPr/>
          <p:nvPr/>
        </p:nvSpPr>
        <p:spPr>
          <a:xfrm>
            <a:off x="990600" y="3735038"/>
            <a:ext cx="171450" cy="171450"/>
          </a:xfrm>
          <a:prstGeom prst="ellipse">
            <a:avLst/>
          </a:prstGeom>
          <a:solidFill>
            <a:srgbClr val="EE3B0D"/>
          </a:solidFill>
          <a:ln/>
        </p:spPr>
      </p:sp>
      <p:sp>
        <p:nvSpPr>
          <p:cNvPr id="7" name="Text 5"/>
          <p:cNvSpPr/>
          <p:nvPr/>
        </p:nvSpPr>
        <p:spPr>
          <a:xfrm>
            <a:off x="1295400" y="3682651"/>
            <a:ext cx="1946449" cy="314325"/>
          </a:xfrm>
          <a:prstGeom prst="rect">
            <a:avLst/>
          </a:prstGeom>
          <a:noFill/>
          <a:ln/>
        </p:spPr>
        <p:txBody>
          <a:bodyPr wrap="square" lIns="0" tIns="0" rIns="0" bIns="0" rtlCol="0" anchor="t">
            <a:normAutofit/>
          </a:bodyPr>
          <a:lstStyle/>
          <a:p>
            <a:pPr algn="l" indent="0" marL="0">
              <a:buNone/>
            </a:pPr>
            <a:r>
              <a:rPr lang="en-US" sz="2025" b="1" spc="41" kern="0" dirty="0">
                <a:solidFill>
                  <a:srgbClr val="1A1714"/>
                </a:solidFill>
                <a:latin typeface="Arial" pitchFamily="34" charset="0"/>
                <a:ea typeface="Arial" pitchFamily="34" charset="-122"/>
                <a:cs typeface="Arial" pitchFamily="34" charset="-120"/>
              </a:rPr>
              <a:t>Componentes</a:t>
            </a:r>
            <a:endParaRPr lang="en-US" sz="2025" dirty="0"/>
          </a:p>
        </p:txBody>
      </p:sp>
      <p:sp>
        <p:nvSpPr>
          <p:cNvPr id="8" name="Text 6"/>
          <p:cNvSpPr/>
          <p:nvPr/>
        </p:nvSpPr>
        <p:spPr>
          <a:xfrm>
            <a:off x="990600" y="4130326"/>
            <a:ext cx="8201787"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E665E"/>
                </a:solidFill>
                <a:latin typeface="Arial" pitchFamily="34" charset="0"/>
                <a:ea typeface="Arial" pitchFamily="34" charset="-122"/>
                <a:cs typeface="Arial" pitchFamily="34" charset="-120"/>
              </a:rPr>
              <a:t>Se encargan solo de la presentación.</a:t>
            </a:r>
            <a:endParaRPr lang="en-US" sz="1875" dirty="0"/>
          </a:p>
        </p:txBody>
      </p:sp>
      <p:sp>
        <p:nvSpPr>
          <p:cNvPr id="9" name="Shape 7"/>
          <p:cNvSpPr/>
          <p:nvPr/>
        </p:nvSpPr>
        <p:spPr>
          <a:xfrm>
            <a:off x="9334500" y="3735038"/>
            <a:ext cx="171450" cy="171450"/>
          </a:xfrm>
          <a:prstGeom prst="ellipse">
            <a:avLst/>
          </a:prstGeom>
          <a:solidFill>
            <a:srgbClr val="1A1714"/>
          </a:solidFill>
          <a:ln/>
        </p:spPr>
      </p:sp>
      <p:sp>
        <p:nvSpPr>
          <p:cNvPr id="10" name="Text 8"/>
          <p:cNvSpPr/>
          <p:nvPr/>
        </p:nvSpPr>
        <p:spPr>
          <a:xfrm>
            <a:off x="9639300" y="3682651"/>
            <a:ext cx="1330970" cy="314325"/>
          </a:xfrm>
          <a:prstGeom prst="rect">
            <a:avLst/>
          </a:prstGeom>
          <a:noFill/>
          <a:ln/>
        </p:spPr>
        <p:txBody>
          <a:bodyPr wrap="square" lIns="0" tIns="0" rIns="0" bIns="0" rtlCol="0" anchor="t">
            <a:normAutofit/>
          </a:bodyPr>
          <a:lstStyle/>
          <a:p>
            <a:pPr algn="l" indent="0" marL="0">
              <a:buNone/>
            </a:pPr>
            <a:r>
              <a:rPr lang="en-US" sz="2025" b="1" spc="41" kern="0" dirty="0">
                <a:solidFill>
                  <a:srgbClr val="1A1714"/>
                </a:solidFill>
                <a:latin typeface="Arial" pitchFamily="34" charset="0"/>
                <a:ea typeface="Arial" pitchFamily="34" charset="-122"/>
                <a:cs typeface="Arial" pitchFamily="34" charset="-120"/>
              </a:rPr>
              <a:t>Servicios</a:t>
            </a:r>
            <a:endParaRPr lang="en-US" sz="2025" dirty="0"/>
          </a:p>
        </p:txBody>
      </p:sp>
      <p:sp>
        <p:nvSpPr>
          <p:cNvPr id="11" name="Text 9"/>
          <p:cNvSpPr/>
          <p:nvPr/>
        </p:nvSpPr>
        <p:spPr>
          <a:xfrm>
            <a:off x="9334500" y="4130326"/>
            <a:ext cx="8201787"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6E665E"/>
                </a:solidFill>
                <a:latin typeface="Arial" pitchFamily="34" charset="0"/>
                <a:ea typeface="Arial" pitchFamily="34" charset="-122"/>
                <a:cs typeface="Arial" pitchFamily="34" charset="-120"/>
              </a:rPr>
              <a:t>Los únicos que hablan con la API. Cada servicio dialoga con su controlador equivalente.</a:t>
            </a:r>
            <a:endParaRPr lang="en-US" sz="1875" dirty="0"/>
          </a:p>
        </p:txBody>
      </p:sp>
      <p:sp>
        <p:nvSpPr>
          <p:cNvPr id="12" name="Text 10"/>
          <p:cNvSpPr/>
          <p:nvPr/>
        </p:nvSpPr>
        <p:spPr>
          <a:xfrm>
            <a:off x="990600" y="5237865"/>
            <a:ext cx="68580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EE3B0D"/>
                </a:solidFill>
                <a:latin typeface="Arial" pitchFamily="34" charset="0"/>
                <a:ea typeface="Arial" pitchFamily="34" charset="-122"/>
                <a:cs typeface="Arial" pitchFamily="34" charset="-120"/>
              </a:rPr>
              <a:t>▸</a:t>
            </a:r>
            <a:endParaRPr lang="en-US" sz="2250" dirty="0"/>
          </a:p>
        </p:txBody>
      </p:sp>
      <p:sp>
        <p:nvSpPr>
          <p:cNvPr id="13" name="Text 11"/>
          <p:cNvSpPr/>
          <p:nvPr/>
        </p:nvSpPr>
        <p:spPr>
          <a:xfrm>
            <a:off x="1847850" y="5247390"/>
            <a:ext cx="922362" cy="352425"/>
          </a:xfrm>
          <a:prstGeom prst="rect">
            <a:avLst/>
          </a:prstGeom>
          <a:noFill/>
          <a:ln/>
        </p:spPr>
        <p:txBody>
          <a:bodyPr wrap="square" lIns="0" tIns="0" rIns="0" bIns="0" rtlCol="0" anchor="t">
            <a:normAutofit/>
          </a:bodyPr>
          <a:lstStyle/>
          <a:p>
            <a:pPr algn="l" indent="0" marL="0">
              <a:lnSpc>
                <a:spcPct val="118000"/>
              </a:lnSpc>
              <a:buNone/>
            </a:pPr>
            <a:r>
              <a:rPr lang="en-US" sz="2250" b="1" dirty="0">
                <a:solidFill>
                  <a:srgbClr val="1A1714"/>
                </a:solidFill>
                <a:latin typeface="Arial" pitchFamily="34" charset="0"/>
                <a:ea typeface="Arial" pitchFamily="34" charset="-122"/>
                <a:cs typeface="Arial" pitchFamily="34" charset="-120"/>
              </a:rPr>
              <a:t>Guard</a:t>
            </a:r>
            <a:endParaRPr lang="en-US" sz="2250" dirty="0"/>
          </a:p>
        </p:txBody>
      </p:sp>
      <p:sp>
        <p:nvSpPr>
          <p:cNvPr id="14" name="Text 12"/>
          <p:cNvSpPr/>
          <p:nvPr/>
        </p:nvSpPr>
        <p:spPr>
          <a:xfrm>
            <a:off x="1847850" y="5641710"/>
            <a:ext cx="15913037"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6E665E"/>
                </a:solidFill>
                <a:latin typeface="Arial" pitchFamily="34" charset="0"/>
                <a:ea typeface="Arial" pitchFamily="34" charset="-122"/>
                <a:cs typeface="Arial" pitchFamily="34" charset="-120"/>
              </a:rPr>
              <a:t>Protege las rutas del panel y redirige al login si no hay sesión.</a:t>
            </a:r>
            <a:endParaRPr lang="en-US" sz="1800" dirty="0"/>
          </a:p>
        </p:txBody>
      </p:sp>
      <p:sp>
        <p:nvSpPr>
          <p:cNvPr id="15" name="Text 13"/>
          <p:cNvSpPr/>
          <p:nvPr/>
        </p:nvSpPr>
        <p:spPr>
          <a:xfrm>
            <a:off x="990600" y="6197137"/>
            <a:ext cx="68580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EE3B0D"/>
                </a:solidFill>
                <a:latin typeface="Arial" pitchFamily="34" charset="0"/>
                <a:ea typeface="Arial" pitchFamily="34" charset="-122"/>
                <a:cs typeface="Arial" pitchFamily="34" charset="-120"/>
              </a:rPr>
              <a:t>▸</a:t>
            </a:r>
            <a:endParaRPr lang="en-US" sz="2250" dirty="0"/>
          </a:p>
        </p:txBody>
      </p:sp>
      <p:sp>
        <p:nvSpPr>
          <p:cNvPr id="16" name="Text 14"/>
          <p:cNvSpPr/>
          <p:nvPr/>
        </p:nvSpPr>
        <p:spPr>
          <a:xfrm>
            <a:off x="1847850" y="6206662"/>
            <a:ext cx="1590452" cy="352425"/>
          </a:xfrm>
          <a:prstGeom prst="rect">
            <a:avLst/>
          </a:prstGeom>
          <a:noFill/>
          <a:ln/>
        </p:spPr>
        <p:txBody>
          <a:bodyPr wrap="square" lIns="0" tIns="0" rIns="0" bIns="0" rtlCol="0" anchor="t">
            <a:normAutofit/>
          </a:bodyPr>
          <a:lstStyle/>
          <a:p>
            <a:pPr algn="l" indent="0" marL="0">
              <a:lnSpc>
                <a:spcPct val="118000"/>
              </a:lnSpc>
              <a:buNone/>
            </a:pPr>
            <a:r>
              <a:rPr lang="en-US" sz="2250" b="1" dirty="0">
                <a:solidFill>
                  <a:srgbClr val="1A1714"/>
                </a:solidFill>
                <a:latin typeface="Arial" pitchFamily="34" charset="0"/>
                <a:ea typeface="Arial" pitchFamily="34" charset="-122"/>
                <a:cs typeface="Arial" pitchFamily="34" charset="-120"/>
              </a:rPr>
              <a:t>Interceptor</a:t>
            </a:r>
            <a:endParaRPr lang="en-US" sz="2250" dirty="0"/>
          </a:p>
        </p:txBody>
      </p:sp>
      <p:sp>
        <p:nvSpPr>
          <p:cNvPr id="17" name="Text 15"/>
          <p:cNvSpPr/>
          <p:nvPr/>
        </p:nvSpPr>
        <p:spPr>
          <a:xfrm>
            <a:off x="1847850" y="6600982"/>
            <a:ext cx="15913037"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6E665E"/>
                </a:solidFill>
                <a:latin typeface="Arial" pitchFamily="34" charset="0"/>
                <a:ea typeface="Arial" pitchFamily="34" charset="-122"/>
                <a:cs typeface="Arial" pitchFamily="34" charset="-120"/>
              </a:rPr>
              <a:t>Añade el token de seguridad a cada petición, automáticamente.</a:t>
            </a:r>
            <a:endParaRPr lang="en-US" sz="1800" dirty="0"/>
          </a:p>
        </p:txBody>
      </p:sp>
      <p:sp>
        <p:nvSpPr>
          <p:cNvPr id="18" name="Text 16"/>
          <p:cNvSpPr/>
          <p:nvPr/>
        </p:nvSpPr>
        <p:spPr>
          <a:xfrm>
            <a:off x="990600" y="9525000"/>
            <a:ext cx="1249635" cy="2857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6E665E"/>
                </a:solidFill>
                <a:latin typeface="Arial" pitchFamily="34" charset="0"/>
                <a:ea typeface="Arial" pitchFamily="34" charset="-122"/>
                <a:cs typeface="Arial" pitchFamily="34" charset="-120"/>
              </a:rPr>
              <a:t>El frontend</a:t>
            </a:r>
            <a:endParaRPr lang="en-US" sz="1800" dirty="0"/>
          </a:p>
        </p:txBody>
      </p:sp>
      <p:sp>
        <p:nvSpPr>
          <p:cNvPr id="19" name="Text 17"/>
          <p:cNvSpPr/>
          <p:nvPr/>
        </p:nvSpPr>
        <p:spPr>
          <a:xfrm>
            <a:off x="16575881" y="9525000"/>
            <a:ext cx="797719" cy="28575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1A1714"/>
                </a:solidFill>
                <a:latin typeface="Arial" pitchFamily="34" charset="0"/>
                <a:ea typeface="Arial" pitchFamily="34" charset="-122"/>
                <a:cs typeface="Arial" pitchFamily="34" charset="-120"/>
              </a:rPr>
              <a:t>09 </a:t>
            </a:r>
            <a:pPr algn="l" indent="0" marL="0">
              <a:buNone/>
            </a:pPr>
            <a:r>
              <a:rPr lang="en-US" sz="1800" spc="36" kern="0" dirty="0">
                <a:solidFill>
                  <a:srgbClr val="6E665E"/>
                </a:solidFill>
                <a:latin typeface="Arial" pitchFamily="34" charset="0"/>
                <a:ea typeface="Arial" pitchFamily="34" charset="-122"/>
                <a:cs typeface="Arial" pitchFamily="34" charset="-120"/>
              </a:rPr>
              <a:t>/ 15</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3B0D"/>
        </a:solidFill>
      </p:bgPr>
    </p:bg>
    <p:spTree>
      <p:nvGrpSpPr>
        <p:cNvPr id="1" name=""/>
        <p:cNvGrpSpPr/>
        <p:nvPr/>
      </p:nvGrpSpPr>
      <p:grpSpPr>
        <a:xfrm>
          <a:off x="0" y="0"/>
          <a:ext cx="0" cy="0"/>
          <a:chOff x="0" y="0"/>
          <a:chExt cx="0" cy="0"/>
        </a:xfrm>
      </p:grpSpPr>
      <p:sp>
        <p:nvSpPr>
          <p:cNvPr id="2" name="Text 0"/>
          <p:cNvSpPr/>
          <p:nvPr/>
        </p:nvSpPr>
        <p:spPr>
          <a:xfrm>
            <a:off x="-274320" y="3276600"/>
            <a:ext cx="18836640" cy="3771900"/>
          </a:xfrm>
          <a:prstGeom prst="rect">
            <a:avLst/>
          </a:prstGeom>
          <a:noFill/>
          <a:ln/>
        </p:spPr>
        <p:txBody>
          <a:bodyPr wrap="none" lIns="25400" tIns="25400" rIns="25400" bIns="25400" rtlCol="0" anchor="t">
            <a:normAutofit/>
          </a:bodyPr>
          <a:lstStyle/>
          <a:p>
            <a:pPr algn="ctr" indent="0" marL="0">
              <a:lnSpc>
                <a:spcPct val="100000"/>
              </a:lnSpc>
              <a:buNone/>
            </a:pPr>
            <a:r>
              <a:rPr lang="en-US" sz="29400" b="1" spc="-882" kern="0" dirty="0">
                <a:solidFill>
                  <a:srgbClr val="F2562E"/>
                </a:solidFill>
                <a:latin typeface="Arial" pitchFamily="34" charset="0"/>
                <a:ea typeface="Arial" pitchFamily="34" charset="-122"/>
                <a:cs typeface="Arial" pitchFamily="34" charset="-120"/>
              </a:rPr>
              <a:t>DEMO</a:t>
            </a:r>
            <a:endParaRPr lang="en-US" sz="29400" dirty="0"/>
          </a:p>
        </p:txBody>
      </p:sp>
      <p:sp>
        <p:nvSpPr>
          <p:cNvPr id="3" name="Text 1"/>
          <p:cNvSpPr/>
          <p:nvPr/>
        </p:nvSpPr>
        <p:spPr>
          <a:xfrm>
            <a:off x="-274320" y="4217670"/>
            <a:ext cx="18836640" cy="1752600"/>
          </a:xfrm>
          <a:prstGeom prst="rect">
            <a:avLst/>
          </a:prstGeom>
          <a:noFill/>
          <a:ln/>
        </p:spPr>
        <p:txBody>
          <a:bodyPr wrap="square" lIns="25400" tIns="25400" rIns="25400" bIns="25400" rtlCol="0" anchor="t">
            <a:normAutofit/>
          </a:bodyPr>
          <a:lstStyle/>
          <a:p>
            <a:pPr algn="ctr" indent="0" marL="0">
              <a:lnSpc>
                <a:spcPct val="90000"/>
              </a:lnSpc>
              <a:buNone/>
            </a:pPr>
            <a:r>
              <a:rPr lang="en-US" sz="15000" b="1" spc="-300" kern="0" dirty="0">
                <a:solidFill>
                  <a:srgbClr val="1A1714"/>
                </a:solidFill>
                <a:latin typeface="Arial" pitchFamily="34" charset="0"/>
                <a:ea typeface="Arial" pitchFamily="34" charset="-122"/>
                <a:cs typeface="Arial" pitchFamily="34" charset="-120"/>
              </a:rPr>
              <a:t>DEMO EN VIVO</a:t>
            </a:r>
            <a:endParaRPr lang="en-US" sz="15000" dirty="0"/>
          </a:p>
        </p:txBody>
      </p:sp>
      <p:sp>
        <p:nvSpPr>
          <p:cNvPr id="4" name="Text 2"/>
          <p:cNvSpPr/>
          <p:nvPr/>
        </p:nvSpPr>
        <p:spPr>
          <a:xfrm>
            <a:off x="-274320" y="6377880"/>
            <a:ext cx="18836640" cy="452438"/>
          </a:xfrm>
          <a:prstGeom prst="rect">
            <a:avLst/>
          </a:prstGeom>
          <a:noFill/>
          <a:ln/>
        </p:spPr>
        <p:txBody>
          <a:bodyPr wrap="square" lIns="25400" tIns="25400" rIns="25400" bIns="25400" rtlCol="0" anchor="t">
            <a:normAutofit/>
          </a:bodyPr>
          <a:lstStyle/>
          <a:p>
            <a:pPr algn="ctr" indent="0" marL="0">
              <a:buNone/>
            </a:pPr>
            <a:r>
              <a:rPr lang="en-US" sz="2850" b="1" spc="29" kern="0" dirty="0">
                <a:solidFill>
                  <a:srgbClr val="1A1714"/>
                </a:solidFill>
                <a:latin typeface="Arial" pitchFamily="34" charset="0"/>
                <a:ea typeface="Arial" pitchFamily="34" charset="-122"/>
                <a:cs typeface="Arial" pitchFamily="34" charset="-120"/>
              </a:rPr>
              <a:t>Zona pública → Panel de administración</a:t>
            </a:r>
            <a:endParaRPr lang="en-US" sz="2850" dirty="0"/>
          </a:p>
        </p:txBody>
      </p:sp>
      <p:sp>
        <p:nvSpPr>
          <p:cNvPr id="5" name="Text 3"/>
          <p:cNvSpPr/>
          <p:nvPr/>
        </p:nvSpPr>
        <p:spPr>
          <a:xfrm>
            <a:off x="990600" y="590550"/>
            <a:ext cx="2638019" cy="309563"/>
          </a:xfrm>
          <a:prstGeom prst="rect">
            <a:avLst/>
          </a:prstGeom>
          <a:noFill/>
          <a:ln/>
        </p:spPr>
        <p:txBody>
          <a:bodyPr wrap="square" lIns="25400" tIns="25400" rIns="25400" bIns="25400" rtlCol="0" anchor="t">
            <a:normAutofit/>
          </a:bodyPr>
          <a:lstStyle/>
          <a:p>
            <a:pPr algn="l" indent="0" marL="0">
              <a:buNone/>
            </a:pPr>
            <a:r>
              <a:rPr lang="en-US" sz="1950" b="1" dirty="0">
                <a:solidFill>
                  <a:srgbClr val="F3EDE7"/>
                </a:solidFill>
                <a:latin typeface="Arial" pitchFamily="34" charset="0"/>
                <a:ea typeface="Arial" pitchFamily="34" charset="-122"/>
                <a:cs typeface="Arial" pitchFamily="34" charset="-120"/>
              </a:rPr>
              <a:t>10 · DEMOSTRACIÓN</a:t>
            </a:r>
            <a:endParaRPr lang="en-US" sz="1950" dirty="0"/>
          </a:p>
        </p:txBody>
      </p:sp>
      <p:sp>
        <p:nvSpPr>
          <p:cNvPr id="6" name="Text 4"/>
          <p:cNvSpPr/>
          <p:nvPr/>
        </p:nvSpPr>
        <p:spPr>
          <a:xfrm>
            <a:off x="13221295" y="9501188"/>
            <a:ext cx="4198388" cy="309563"/>
          </a:xfrm>
          <a:prstGeom prst="rect">
            <a:avLst/>
          </a:prstGeom>
          <a:noFill/>
          <a:ln/>
        </p:spPr>
        <p:txBody>
          <a:bodyPr wrap="square" lIns="25400" tIns="25400" rIns="25400" bIns="25400" rtlCol="0" anchor="t">
            <a:normAutofit/>
          </a:bodyPr>
          <a:lstStyle/>
          <a:p>
            <a:pPr algn="l" indent="0" marL="0">
              <a:buNone/>
            </a:pPr>
            <a:r>
              <a:rPr lang="en-US" sz="1950" b="1" dirty="0">
                <a:solidFill>
                  <a:srgbClr val="F3EDE7"/>
                </a:solidFill>
                <a:latin typeface="Arial" pitchFamily="34" charset="0"/>
                <a:ea typeface="Arial" pitchFamily="34" charset="-122"/>
                <a:cs typeface="Arial" pitchFamily="34" charset="-120"/>
              </a:rPr>
              <a:t>Galería digital · Bernaldo de Quirós</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DE7"/>
        </a:solidFill>
      </p:bgPr>
    </p:bg>
    <p:spTree>
      <p:nvGrpSpPr>
        <p:cNvPr id="1" name=""/>
        <p:cNvGrpSpPr/>
        <p:nvPr/>
      </p:nvGrpSpPr>
      <p:grpSpPr>
        <a:xfrm>
          <a:off x="0" y="0"/>
          <a:ext cx="0" cy="0"/>
          <a:chOff x="0" y="0"/>
          <a:chExt cx="0" cy="0"/>
        </a:xfrm>
      </p:grpSpPr>
      <p:sp>
        <p:nvSpPr>
          <p:cNvPr id="2" name="Shape 0"/>
          <p:cNvSpPr/>
          <p:nvPr/>
        </p:nvSpPr>
        <p:spPr>
          <a:xfrm>
            <a:off x="0" y="0"/>
            <a:ext cx="18288000" cy="66675"/>
          </a:xfrm>
          <a:prstGeom prst="rect">
            <a:avLst/>
          </a:prstGeom>
          <a:solidFill>
            <a:srgbClr val="3D2BB0"/>
          </a:solidFill>
          <a:ln/>
        </p:spPr>
      </p:sp>
      <p:sp>
        <p:nvSpPr>
          <p:cNvPr id="3" name="Text 1"/>
          <p:cNvSpPr/>
          <p:nvPr/>
        </p:nvSpPr>
        <p:spPr>
          <a:xfrm>
            <a:off x="990600" y="590550"/>
            <a:ext cx="460549"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EE3B0D"/>
                </a:solidFill>
                <a:latin typeface="Arial" pitchFamily="34" charset="0"/>
                <a:ea typeface="Arial" pitchFamily="34" charset="-122"/>
                <a:cs typeface="Arial" pitchFamily="34" charset="-120"/>
              </a:rPr>
              <a:t>11</a:t>
            </a:r>
            <a:endParaRPr lang="en-US" sz="1875" dirty="0"/>
          </a:p>
        </p:txBody>
      </p:sp>
      <p:sp>
        <p:nvSpPr>
          <p:cNvPr id="4" name="Text 2"/>
          <p:cNvSpPr/>
          <p:nvPr/>
        </p:nvSpPr>
        <p:spPr>
          <a:xfrm>
            <a:off x="1546399" y="590550"/>
            <a:ext cx="3232259"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1A1714"/>
                </a:solidFill>
                <a:latin typeface="Arial" pitchFamily="34" charset="0"/>
                <a:ea typeface="Arial" pitchFamily="34" charset="-122"/>
                <a:cs typeface="Arial" pitchFamily="34" charset="-120"/>
              </a:rPr>
              <a:t>PRUEBAS Y CALIDAD</a:t>
            </a:r>
            <a:endParaRPr lang="en-US" sz="1875" dirty="0"/>
          </a:p>
        </p:txBody>
      </p:sp>
      <p:sp>
        <p:nvSpPr>
          <p:cNvPr id="5" name="Text 3"/>
          <p:cNvSpPr/>
          <p:nvPr/>
        </p:nvSpPr>
        <p:spPr>
          <a:xfrm>
            <a:off x="990600" y="2574280"/>
            <a:ext cx="7886847" cy="1720453"/>
          </a:xfrm>
          <a:prstGeom prst="rect">
            <a:avLst/>
          </a:prstGeom>
          <a:noFill/>
          <a:ln/>
        </p:spPr>
        <p:txBody>
          <a:bodyPr wrap="square" lIns="25400" tIns="25400" rIns="25400" bIns="25400" rtlCol="0" anchor="t">
            <a:normAutofit/>
          </a:bodyPr>
          <a:lstStyle/>
          <a:p>
            <a:pPr algn="l" indent="0" marL="0">
              <a:lnSpc>
                <a:spcPct val="96000"/>
              </a:lnSpc>
              <a:buNone/>
            </a:pPr>
            <a:r>
              <a:rPr lang="en-US" sz="6900" b="1" spc="-152" kern="0" dirty="0">
                <a:solidFill>
                  <a:srgbClr val="1A1714"/>
                </a:solidFill>
                <a:latin typeface="Arial" pitchFamily="34" charset="0"/>
                <a:ea typeface="Arial" pitchFamily="34" charset="-122"/>
                <a:cs typeface="Arial" pitchFamily="34" charset="-120"/>
              </a:rPr>
              <a:t>Probado en </a:t>
            </a:r>
            <a:pPr algn="l" indent="0" marL="0">
              <a:lnSpc>
                <a:spcPct val="96000"/>
              </a:lnSpc>
              <a:buNone/>
            </a:pPr>
            <a:r>
              <a:rPr lang="en-US" sz="6900" b="1" spc="-152" kern="0" dirty="0">
                <a:solidFill>
                  <a:srgbClr val="EE3B0D"/>
                </a:solidFill>
                <a:latin typeface="Arial" pitchFamily="34" charset="0"/>
                <a:ea typeface="Arial" pitchFamily="34" charset="-122"/>
                <a:cs typeface="Arial" pitchFamily="34" charset="-120"/>
              </a:rPr>
              <a:t>varios niveles</a:t>
            </a:r>
            <a:endParaRPr lang="en-US" sz="6900" dirty="0"/>
          </a:p>
        </p:txBody>
      </p:sp>
      <p:sp>
        <p:nvSpPr>
          <p:cNvPr id="6" name="Text 4"/>
          <p:cNvSpPr/>
          <p:nvPr/>
        </p:nvSpPr>
        <p:spPr>
          <a:xfrm>
            <a:off x="990600" y="4618735"/>
            <a:ext cx="68580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EE3B0D"/>
                </a:solidFill>
                <a:latin typeface="Arial" pitchFamily="34" charset="0"/>
                <a:ea typeface="Arial" pitchFamily="34" charset="-122"/>
                <a:cs typeface="Arial" pitchFamily="34" charset="-120"/>
              </a:rPr>
              <a:t>28</a:t>
            </a:r>
            <a:endParaRPr lang="en-US" sz="2250" dirty="0"/>
          </a:p>
        </p:txBody>
      </p:sp>
      <p:sp>
        <p:nvSpPr>
          <p:cNvPr id="7" name="Text 5"/>
          <p:cNvSpPr/>
          <p:nvPr/>
        </p:nvSpPr>
        <p:spPr>
          <a:xfrm>
            <a:off x="1847850" y="4628260"/>
            <a:ext cx="2465412" cy="352425"/>
          </a:xfrm>
          <a:prstGeom prst="rect">
            <a:avLst/>
          </a:prstGeom>
          <a:noFill/>
          <a:ln/>
        </p:spPr>
        <p:txBody>
          <a:bodyPr wrap="square" lIns="0" tIns="0" rIns="0" bIns="0" rtlCol="0" anchor="t">
            <a:normAutofit/>
          </a:bodyPr>
          <a:lstStyle/>
          <a:p>
            <a:pPr algn="l" indent="0" marL="0">
              <a:lnSpc>
                <a:spcPct val="118000"/>
              </a:lnSpc>
              <a:buNone/>
            </a:pPr>
            <a:r>
              <a:rPr lang="en-US" sz="2250" b="1" dirty="0">
                <a:solidFill>
                  <a:srgbClr val="1A1714"/>
                </a:solidFill>
                <a:latin typeface="Arial" pitchFamily="34" charset="0"/>
                <a:ea typeface="Arial" pitchFamily="34" charset="-122"/>
                <a:cs typeface="Arial" pitchFamily="34" charset="-120"/>
              </a:rPr>
              <a:t>Pruebas unitarias</a:t>
            </a:r>
            <a:endParaRPr lang="en-US" sz="2250" dirty="0"/>
          </a:p>
        </p:txBody>
      </p:sp>
      <p:sp>
        <p:nvSpPr>
          <p:cNvPr id="8" name="Text 6"/>
          <p:cNvSpPr/>
          <p:nvPr/>
        </p:nvSpPr>
        <p:spPr>
          <a:xfrm>
            <a:off x="1847850" y="5022580"/>
            <a:ext cx="7003879"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6E665E"/>
                </a:solidFill>
                <a:latin typeface="Arial" pitchFamily="34" charset="0"/>
                <a:ea typeface="Arial" pitchFamily="34" charset="-122"/>
                <a:cs typeface="Arial" pitchFamily="34" charset="-120"/>
              </a:rPr>
              <a:t>JUnit + Mockito sobre la lógica de negocio</a:t>
            </a:r>
            <a:endParaRPr lang="en-US" sz="1800" dirty="0"/>
          </a:p>
        </p:txBody>
      </p:sp>
      <p:sp>
        <p:nvSpPr>
          <p:cNvPr id="9" name="Text 7"/>
          <p:cNvSpPr/>
          <p:nvPr/>
        </p:nvSpPr>
        <p:spPr>
          <a:xfrm>
            <a:off x="990600" y="5578007"/>
            <a:ext cx="68580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EE3B0D"/>
                </a:solidFill>
                <a:latin typeface="Arial" pitchFamily="34" charset="0"/>
                <a:ea typeface="Arial" pitchFamily="34" charset="-122"/>
                <a:cs typeface="Arial" pitchFamily="34" charset="-120"/>
              </a:rPr>
              <a:t>·</a:t>
            </a:r>
            <a:endParaRPr lang="en-US" sz="2250" dirty="0"/>
          </a:p>
        </p:txBody>
      </p:sp>
      <p:sp>
        <p:nvSpPr>
          <p:cNvPr id="10" name="Text 8"/>
          <p:cNvSpPr/>
          <p:nvPr/>
        </p:nvSpPr>
        <p:spPr>
          <a:xfrm>
            <a:off x="1847850" y="5587532"/>
            <a:ext cx="2876772" cy="352425"/>
          </a:xfrm>
          <a:prstGeom prst="rect">
            <a:avLst/>
          </a:prstGeom>
          <a:noFill/>
          <a:ln/>
        </p:spPr>
        <p:txBody>
          <a:bodyPr wrap="square" lIns="0" tIns="0" rIns="0" bIns="0" rtlCol="0" anchor="t">
            <a:normAutofit/>
          </a:bodyPr>
          <a:lstStyle/>
          <a:p>
            <a:pPr algn="l" indent="0" marL="0">
              <a:lnSpc>
                <a:spcPct val="118000"/>
              </a:lnSpc>
              <a:buNone/>
            </a:pPr>
            <a:r>
              <a:rPr lang="en-US" sz="2250" b="1" dirty="0">
                <a:solidFill>
                  <a:srgbClr val="1A1714"/>
                </a:solidFill>
                <a:latin typeface="Arial" pitchFamily="34" charset="0"/>
                <a:ea typeface="Arial" pitchFamily="34" charset="-122"/>
                <a:cs typeface="Arial" pitchFamily="34" charset="-120"/>
              </a:rPr>
              <a:t>Integración de la API</a:t>
            </a:r>
            <a:endParaRPr lang="en-US" sz="2250" dirty="0"/>
          </a:p>
        </p:txBody>
      </p:sp>
      <p:sp>
        <p:nvSpPr>
          <p:cNvPr id="11" name="Text 9"/>
          <p:cNvSpPr/>
          <p:nvPr/>
        </p:nvSpPr>
        <p:spPr>
          <a:xfrm>
            <a:off x="1847850" y="5981852"/>
            <a:ext cx="7003879"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6E665E"/>
                </a:solidFill>
                <a:latin typeface="Arial" pitchFamily="34" charset="0"/>
                <a:ea typeface="Arial" pitchFamily="34" charset="-122"/>
                <a:cs typeface="Arial" pitchFamily="34" charset="-120"/>
              </a:rPr>
              <a:t>Postman: cada endpoint y los permisos</a:t>
            </a:r>
            <a:endParaRPr lang="en-US" sz="1800" dirty="0"/>
          </a:p>
        </p:txBody>
      </p:sp>
      <p:sp>
        <p:nvSpPr>
          <p:cNvPr id="12" name="Text 10"/>
          <p:cNvSpPr/>
          <p:nvPr/>
        </p:nvSpPr>
        <p:spPr>
          <a:xfrm>
            <a:off x="990600" y="6537278"/>
            <a:ext cx="68580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EE3B0D"/>
                </a:solidFill>
                <a:latin typeface="Arial" pitchFamily="34" charset="0"/>
                <a:ea typeface="Arial" pitchFamily="34" charset="-122"/>
                <a:cs typeface="Arial" pitchFamily="34" charset="-120"/>
              </a:rPr>
              <a:t>·</a:t>
            </a:r>
            <a:endParaRPr lang="en-US" sz="2250" dirty="0"/>
          </a:p>
        </p:txBody>
      </p:sp>
      <p:sp>
        <p:nvSpPr>
          <p:cNvPr id="13" name="Text 11"/>
          <p:cNvSpPr/>
          <p:nvPr/>
        </p:nvSpPr>
        <p:spPr>
          <a:xfrm>
            <a:off x="1847850" y="6546803"/>
            <a:ext cx="2871484" cy="352425"/>
          </a:xfrm>
          <a:prstGeom prst="rect">
            <a:avLst/>
          </a:prstGeom>
          <a:noFill/>
          <a:ln/>
        </p:spPr>
        <p:txBody>
          <a:bodyPr wrap="square" lIns="0" tIns="0" rIns="0" bIns="0" rtlCol="0" anchor="t">
            <a:normAutofit/>
          </a:bodyPr>
          <a:lstStyle/>
          <a:p>
            <a:pPr algn="l" indent="0" marL="0">
              <a:lnSpc>
                <a:spcPct val="118000"/>
              </a:lnSpc>
              <a:buNone/>
            </a:pPr>
            <a:r>
              <a:rPr lang="en-US" sz="2250" b="1" dirty="0">
                <a:solidFill>
                  <a:srgbClr val="1A1714"/>
                </a:solidFill>
                <a:latin typeface="Arial" pitchFamily="34" charset="0"/>
                <a:ea typeface="Arial" pitchFamily="34" charset="-122"/>
                <a:cs typeface="Arial" pitchFamily="34" charset="-120"/>
              </a:rPr>
              <a:t>Pruebas funcionales</a:t>
            </a:r>
            <a:endParaRPr lang="en-US" sz="2250" dirty="0"/>
          </a:p>
        </p:txBody>
      </p:sp>
      <p:sp>
        <p:nvSpPr>
          <p:cNvPr id="14" name="Text 12"/>
          <p:cNvSpPr/>
          <p:nvPr/>
        </p:nvSpPr>
        <p:spPr>
          <a:xfrm>
            <a:off x="1847850" y="6941123"/>
            <a:ext cx="7003879"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6E665E"/>
                </a:solidFill>
                <a:latin typeface="Arial" pitchFamily="34" charset="0"/>
                <a:ea typeface="Arial" pitchFamily="34" charset="-122"/>
                <a:cs typeface="Arial" pitchFamily="34" charset="-120"/>
              </a:rPr>
              <a:t>Todos los casos de uso desde la interfaz</a:t>
            </a:r>
            <a:endParaRPr lang="en-US" sz="1800" dirty="0"/>
          </a:p>
        </p:txBody>
      </p:sp>
      <p:sp>
        <p:nvSpPr>
          <p:cNvPr id="15" name="Text 13"/>
          <p:cNvSpPr/>
          <p:nvPr/>
        </p:nvSpPr>
        <p:spPr>
          <a:xfrm>
            <a:off x="990600" y="7496550"/>
            <a:ext cx="685800"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EE3B0D"/>
                </a:solidFill>
                <a:latin typeface="Arial" pitchFamily="34" charset="0"/>
                <a:ea typeface="Arial" pitchFamily="34" charset="-122"/>
                <a:cs typeface="Arial" pitchFamily="34" charset="-120"/>
              </a:rPr>
              <a:t>8/10</a:t>
            </a:r>
            <a:endParaRPr lang="en-US" sz="2250" dirty="0"/>
          </a:p>
        </p:txBody>
      </p:sp>
      <p:sp>
        <p:nvSpPr>
          <p:cNvPr id="16" name="Text 14"/>
          <p:cNvSpPr/>
          <p:nvPr/>
        </p:nvSpPr>
        <p:spPr>
          <a:xfrm>
            <a:off x="1847850" y="7506075"/>
            <a:ext cx="1928440" cy="352425"/>
          </a:xfrm>
          <a:prstGeom prst="rect">
            <a:avLst/>
          </a:prstGeom>
          <a:noFill/>
          <a:ln/>
        </p:spPr>
        <p:txBody>
          <a:bodyPr wrap="square" lIns="0" tIns="0" rIns="0" bIns="0" rtlCol="0" anchor="t">
            <a:normAutofit/>
          </a:bodyPr>
          <a:lstStyle/>
          <a:p>
            <a:pPr algn="l" indent="0" marL="0">
              <a:lnSpc>
                <a:spcPct val="118000"/>
              </a:lnSpc>
              <a:buNone/>
            </a:pPr>
            <a:r>
              <a:rPr lang="en-US" sz="2250" b="1" dirty="0">
                <a:solidFill>
                  <a:srgbClr val="1A1714"/>
                </a:solidFill>
                <a:latin typeface="Arial" pitchFamily="34" charset="0"/>
                <a:ea typeface="Arial" pitchFamily="34" charset="-122"/>
                <a:cs typeface="Arial" pitchFamily="34" charset="-120"/>
              </a:rPr>
              <a:t>Accesibilidad</a:t>
            </a:r>
            <a:endParaRPr lang="en-US" sz="2250" dirty="0"/>
          </a:p>
        </p:txBody>
      </p:sp>
      <p:sp>
        <p:nvSpPr>
          <p:cNvPr id="17" name="Text 15"/>
          <p:cNvSpPr/>
          <p:nvPr/>
        </p:nvSpPr>
        <p:spPr>
          <a:xfrm>
            <a:off x="1847850" y="7900395"/>
            <a:ext cx="7003879"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dirty="0">
                <a:solidFill>
                  <a:srgbClr val="6E665E"/>
                </a:solidFill>
                <a:latin typeface="Arial" pitchFamily="34" charset="0"/>
                <a:ea typeface="Arial" pitchFamily="34" charset="-122"/>
                <a:cs typeface="Arial" pitchFamily="34" charset="-120"/>
              </a:rPr>
              <a:t>WAVE</a:t>
            </a:r>
            <a:endParaRPr lang="en-US" sz="1800" dirty="0"/>
          </a:p>
        </p:txBody>
      </p:sp>
      <p:sp>
        <p:nvSpPr>
          <p:cNvPr id="18" name="Shape 16"/>
          <p:cNvSpPr/>
          <p:nvPr/>
        </p:nvSpPr>
        <p:spPr>
          <a:xfrm>
            <a:off x="9257333" y="2895600"/>
            <a:ext cx="8040067" cy="4953000"/>
          </a:xfrm>
          <a:prstGeom prst="roundRect">
            <a:avLst>
              <a:gd name="adj" fmla="val 2308"/>
            </a:avLst>
          </a:prstGeom>
          <a:solidFill>
            <a:srgbClr val="1A1714">
              <a:alpha val="4000"/>
            </a:srgbClr>
          </a:solidFill>
          <a:ln/>
        </p:spPr>
      </p:sp>
      <p:pic>
        <p:nvPicPr>
          <p:cNvPr id="19" name="Image 0" descr="preencoded.png">    </p:cNvPr>
          <p:cNvPicPr>
            <a:picLocks noChangeAspect="1"/>
          </p:cNvPicPr>
          <p:nvPr/>
        </p:nvPicPr>
        <p:blipFill>
          <a:blip r:embed="rId1"/>
          <a:srcRect l="-1513" r="-1513" t="0" b="0"/>
          <a:stretch/>
        </p:blipFill>
        <p:spPr>
          <a:xfrm>
            <a:off x="9257333" y="2895600"/>
            <a:ext cx="8040067" cy="4953000"/>
          </a:xfrm>
          <a:prstGeom prst="rect">
            <a:avLst/>
          </a:prstGeom>
        </p:spPr>
      </p:pic>
      <p:sp>
        <p:nvSpPr>
          <p:cNvPr id="20" name="Text 17"/>
          <p:cNvSpPr/>
          <p:nvPr/>
        </p:nvSpPr>
        <p:spPr>
          <a:xfrm>
            <a:off x="9257333" y="7962900"/>
            <a:ext cx="3801359" cy="28575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E665E"/>
                </a:solidFill>
                <a:latin typeface="Arial" pitchFamily="34" charset="0"/>
                <a:ea typeface="Arial" pitchFamily="34" charset="-122"/>
                <a:cs typeface="Arial" pitchFamily="34" charset="-120"/>
              </a:rPr>
              <a:t>ACCESIBILIDAD · WAVE AIM</a:t>
            </a:r>
            <a:endParaRPr lang="en-US" sz="1800" dirty="0"/>
          </a:p>
        </p:txBody>
      </p:sp>
      <p:sp>
        <p:nvSpPr>
          <p:cNvPr id="21" name="Text 18"/>
          <p:cNvSpPr/>
          <p:nvPr/>
        </p:nvSpPr>
        <p:spPr>
          <a:xfrm>
            <a:off x="990600" y="9525000"/>
            <a:ext cx="1979116" cy="2857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6E665E"/>
                </a:solidFill>
                <a:latin typeface="Arial" pitchFamily="34" charset="0"/>
                <a:ea typeface="Arial" pitchFamily="34" charset="-122"/>
                <a:cs typeface="Arial" pitchFamily="34" charset="-120"/>
              </a:rPr>
              <a:t>Pruebas y calidad</a:t>
            </a:r>
            <a:endParaRPr lang="en-US" sz="1800" dirty="0"/>
          </a:p>
        </p:txBody>
      </p:sp>
      <p:sp>
        <p:nvSpPr>
          <p:cNvPr id="22" name="Text 19"/>
          <p:cNvSpPr/>
          <p:nvPr/>
        </p:nvSpPr>
        <p:spPr>
          <a:xfrm>
            <a:off x="16575435" y="9525000"/>
            <a:ext cx="798165" cy="28575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1A1714"/>
                </a:solidFill>
                <a:latin typeface="Arial" pitchFamily="34" charset="0"/>
                <a:ea typeface="Arial" pitchFamily="34" charset="-122"/>
                <a:cs typeface="Arial" pitchFamily="34" charset="-120"/>
              </a:rPr>
              <a:t>11 </a:t>
            </a:r>
            <a:pPr algn="l" indent="0" marL="0">
              <a:buNone/>
            </a:pPr>
            <a:r>
              <a:rPr lang="en-US" sz="1800" spc="36" kern="0" dirty="0">
                <a:solidFill>
                  <a:srgbClr val="6E665E"/>
                </a:solidFill>
                <a:latin typeface="Arial" pitchFamily="34" charset="0"/>
                <a:ea typeface="Arial" pitchFamily="34" charset="-122"/>
                <a:cs typeface="Arial" pitchFamily="34" charset="-120"/>
              </a:rPr>
              <a:t>/ 15</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DE7"/>
        </a:solidFill>
      </p:bgPr>
    </p:bg>
    <p:spTree>
      <p:nvGrpSpPr>
        <p:cNvPr id="1" name=""/>
        <p:cNvGrpSpPr/>
        <p:nvPr/>
      </p:nvGrpSpPr>
      <p:grpSpPr>
        <a:xfrm>
          <a:off x="0" y="0"/>
          <a:ext cx="0" cy="0"/>
          <a:chOff x="0" y="0"/>
          <a:chExt cx="0" cy="0"/>
        </a:xfrm>
      </p:grpSpPr>
      <p:sp>
        <p:nvSpPr>
          <p:cNvPr id="2" name="Shape 0"/>
          <p:cNvSpPr/>
          <p:nvPr/>
        </p:nvSpPr>
        <p:spPr>
          <a:xfrm>
            <a:off x="0" y="0"/>
            <a:ext cx="18288000" cy="66675"/>
          </a:xfrm>
          <a:prstGeom prst="rect">
            <a:avLst/>
          </a:prstGeom>
          <a:solidFill>
            <a:srgbClr val="3D2BB0"/>
          </a:solidFill>
          <a:ln/>
        </p:spPr>
      </p:sp>
      <p:sp>
        <p:nvSpPr>
          <p:cNvPr id="3" name="Text 1"/>
          <p:cNvSpPr/>
          <p:nvPr/>
        </p:nvSpPr>
        <p:spPr>
          <a:xfrm>
            <a:off x="990600" y="590550"/>
            <a:ext cx="460549"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EE3B0D"/>
                </a:solidFill>
                <a:latin typeface="Arial" pitchFamily="34" charset="0"/>
                <a:ea typeface="Arial" pitchFamily="34" charset="-122"/>
                <a:cs typeface="Arial" pitchFamily="34" charset="-120"/>
              </a:rPr>
              <a:t>12</a:t>
            </a:r>
            <a:endParaRPr lang="en-US" sz="1875" dirty="0"/>
          </a:p>
        </p:txBody>
      </p:sp>
      <p:sp>
        <p:nvSpPr>
          <p:cNvPr id="4" name="Text 2"/>
          <p:cNvSpPr/>
          <p:nvPr/>
        </p:nvSpPr>
        <p:spPr>
          <a:xfrm>
            <a:off x="1546399" y="590550"/>
            <a:ext cx="3454687"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1A1714"/>
                </a:solidFill>
                <a:latin typeface="Arial" pitchFamily="34" charset="0"/>
                <a:ea typeface="Arial" pitchFamily="34" charset="-122"/>
                <a:cs typeface="Arial" pitchFamily="34" charset="-120"/>
              </a:rPr>
              <a:t>RETOS Y SOLUCIONES</a:t>
            </a:r>
            <a:endParaRPr lang="en-US" sz="1875" dirty="0"/>
          </a:p>
        </p:txBody>
      </p:sp>
      <p:sp>
        <p:nvSpPr>
          <p:cNvPr id="5" name="Text 3"/>
          <p:cNvSpPr/>
          <p:nvPr/>
        </p:nvSpPr>
        <p:spPr>
          <a:xfrm>
            <a:off x="990600" y="1600200"/>
            <a:ext cx="16796004" cy="1720453"/>
          </a:xfrm>
          <a:prstGeom prst="rect">
            <a:avLst/>
          </a:prstGeom>
          <a:noFill/>
          <a:ln/>
        </p:spPr>
        <p:txBody>
          <a:bodyPr wrap="square" lIns="25400" tIns="25400" rIns="25400" bIns="25400" rtlCol="0" anchor="t">
            <a:normAutofit/>
          </a:bodyPr>
          <a:lstStyle/>
          <a:p>
            <a:pPr algn="l" indent="0" marL="0">
              <a:lnSpc>
                <a:spcPct val="96000"/>
              </a:lnSpc>
              <a:buNone/>
            </a:pPr>
            <a:r>
              <a:rPr lang="en-US" sz="6900" b="1" spc="-152" kern="0" dirty="0">
                <a:solidFill>
                  <a:srgbClr val="1A1714"/>
                </a:solidFill>
                <a:latin typeface="Arial" pitchFamily="34" charset="0"/>
                <a:ea typeface="Arial" pitchFamily="34" charset="-122"/>
                <a:cs typeface="Arial" pitchFamily="34" charset="-120"/>
              </a:rPr>
              <a:t>Lo que más me hizo </a:t>
            </a:r>
            <a:pPr algn="l" indent="0" marL="0">
              <a:lnSpc>
                <a:spcPct val="96000"/>
              </a:lnSpc>
              <a:buNone/>
            </a:pPr>
            <a:r>
              <a:rPr lang="en-US" sz="6900" b="1" spc="-152" kern="0" dirty="0">
                <a:solidFill>
                  <a:srgbClr val="EE3B0D"/>
                </a:solidFill>
                <a:latin typeface="Arial" pitchFamily="34" charset="0"/>
                <a:ea typeface="Arial" pitchFamily="34" charset="-122"/>
                <a:cs typeface="Arial" pitchFamily="34" charset="-120"/>
              </a:rPr>
              <a:t>aprender</a:t>
            </a:r>
            <a:endParaRPr lang="en-US" sz="6900" dirty="0"/>
          </a:p>
        </p:txBody>
      </p:sp>
      <p:sp>
        <p:nvSpPr>
          <p:cNvPr id="6" name="Shape 4"/>
          <p:cNvSpPr/>
          <p:nvPr/>
        </p:nvSpPr>
        <p:spPr>
          <a:xfrm>
            <a:off x="990600" y="3701704"/>
            <a:ext cx="7924800" cy="47625"/>
          </a:xfrm>
          <a:prstGeom prst="rect">
            <a:avLst/>
          </a:prstGeom>
          <a:solidFill>
            <a:srgbClr val="EE3B0D"/>
          </a:solidFill>
          <a:ln/>
        </p:spPr>
      </p:sp>
      <p:sp>
        <p:nvSpPr>
          <p:cNvPr id="7" name="Text 5"/>
          <p:cNvSpPr/>
          <p:nvPr/>
        </p:nvSpPr>
        <p:spPr>
          <a:xfrm>
            <a:off x="990600" y="4016029"/>
            <a:ext cx="8162544" cy="309563"/>
          </a:xfrm>
          <a:prstGeom prst="rect">
            <a:avLst/>
          </a:prstGeom>
          <a:noFill/>
          <a:ln/>
        </p:spPr>
        <p:txBody>
          <a:bodyPr wrap="square" lIns="25400" tIns="25400" rIns="25400" bIns="25400" rtlCol="0" anchor="t">
            <a:normAutofit/>
          </a:bodyPr>
          <a:lstStyle/>
          <a:p>
            <a:pPr algn="l" indent="0" marL="0">
              <a:buNone/>
            </a:pPr>
            <a:r>
              <a:rPr lang="en-US" sz="1950" b="1" dirty="0">
                <a:solidFill>
                  <a:srgbClr val="EE3B0D"/>
                </a:solidFill>
                <a:latin typeface="Arial" pitchFamily="34" charset="0"/>
                <a:ea typeface="Arial" pitchFamily="34" charset="-122"/>
                <a:cs typeface="Arial" pitchFamily="34" charset="-120"/>
              </a:rPr>
              <a:t>RETO 01</a:t>
            </a:r>
            <a:endParaRPr lang="en-US" sz="1950" dirty="0"/>
          </a:p>
        </p:txBody>
      </p:sp>
      <p:sp>
        <p:nvSpPr>
          <p:cNvPr id="8" name="Text 6"/>
          <p:cNvSpPr/>
          <p:nvPr/>
        </p:nvSpPr>
        <p:spPr>
          <a:xfrm>
            <a:off x="990600" y="4458941"/>
            <a:ext cx="8162544" cy="798165"/>
          </a:xfrm>
          <a:prstGeom prst="rect">
            <a:avLst/>
          </a:prstGeom>
          <a:noFill/>
          <a:ln/>
        </p:spPr>
        <p:txBody>
          <a:bodyPr wrap="square" lIns="25400" tIns="25400" rIns="25400" bIns="25400" rtlCol="0" anchor="t">
            <a:normAutofit/>
          </a:bodyPr>
          <a:lstStyle/>
          <a:p>
            <a:pPr algn="l" indent="0" marL="0">
              <a:lnSpc>
                <a:spcPct val="104000"/>
              </a:lnSpc>
              <a:buNone/>
            </a:pPr>
            <a:r>
              <a:rPr lang="en-US" sz="3150" b="1" spc="-31" kern="0" dirty="0">
                <a:solidFill>
                  <a:srgbClr val="1A1714"/>
                </a:solidFill>
                <a:latin typeface="Arial" pitchFamily="34" charset="0"/>
                <a:ea typeface="Arial" pitchFamily="34" charset="-122"/>
                <a:cs typeface="Arial" pitchFamily="34" charset="-120"/>
              </a:rPr>
              <a:t>Seguridad con JWT</a:t>
            </a:r>
            <a:endParaRPr lang="en-US" sz="3150" dirty="0"/>
          </a:p>
        </p:txBody>
      </p:sp>
      <p:sp>
        <p:nvSpPr>
          <p:cNvPr id="9" name="Text 7"/>
          <p:cNvSpPr/>
          <p:nvPr/>
        </p:nvSpPr>
        <p:spPr>
          <a:xfrm>
            <a:off x="990600" y="5371406"/>
            <a:ext cx="8162544"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E665E"/>
                </a:solidFill>
                <a:latin typeface="Arial" pitchFamily="34" charset="0"/>
                <a:ea typeface="Arial" pitchFamily="34" charset="-122"/>
                <a:cs typeface="Arial" pitchFamily="34" charset="-120"/>
              </a:rPr>
              <a:t>Montar toda la cadena de autenticación fue lo más complejo del backend. La solución: estudiar a fondo Spring Security y montar la cadena de filtros paso a paso, probándola con Postman hasta cubrir cada caso —incluido el del token caducado.</a:t>
            </a:r>
            <a:endParaRPr lang="en-US" sz="1800" dirty="0"/>
          </a:p>
        </p:txBody>
      </p:sp>
      <p:sp>
        <p:nvSpPr>
          <p:cNvPr id="10" name="Shape 8"/>
          <p:cNvSpPr/>
          <p:nvPr/>
        </p:nvSpPr>
        <p:spPr>
          <a:xfrm>
            <a:off x="9372600" y="3701704"/>
            <a:ext cx="7924800" cy="47625"/>
          </a:xfrm>
          <a:prstGeom prst="rect">
            <a:avLst/>
          </a:prstGeom>
          <a:solidFill>
            <a:srgbClr val="EE3B0D"/>
          </a:solidFill>
          <a:ln/>
        </p:spPr>
      </p:sp>
      <p:sp>
        <p:nvSpPr>
          <p:cNvPr id="11" name="Text 9"/>
          <p:cNvSpPr/>
          <p:nvPr/>
        </p:nvSpPr>
        <p:spPr>
          <a:xfrm>
            <a:off x="9372600" y="4016029"/>
            <a:ext cx="8162544" cy="309563"/>
          </a:xfrm>
          <a:prstGeom prst="rect">
            <a:avLst/>
          </a:prstGeom>
          <a:noFill/>
          <a:ln/>
        </p:spPr>
        <p:txBody>
          <a:bodyPr wrap="square" lIns="25400" tIns="25400" rIns="25400" bIns="25400" rtlCol="0" anchor="t">
            <a:normAutofit/>
          </a:bodyPr>
          <a:lstStyle/>
          <a:p>
            <a:pPr algn="l" indent="0" marL="0">
              <a:buNone/>
            </a:pPr>
            <a:r>
              <a:rPr lang="en-US" sz="1950" b="1" dirty="0">
                <a:solidFill>
                  <a:srgbClr val="EE3B0D"/>
                </a:solidFill>
                <a:latin typeface="Arial" pitchFamily="34" charset="0"/>
                <a:ea typeface="Arial" pitchFamily="34" charset="-122"/>
                <a:cs typeface="Arial" pitchFamily="34" charset="-120"/>
              </a:rPr>
              <a:t>RETO 02</a:t>
            </a:r>
            <a:endParaRPr lang="en-US" sz="1950" dirty="0"/>
          </a:p>
        </p:txBody>
      </p:sp>
      <p:sp>
        <p:nvSpPr>
          <p:cNvPr id="12" name="Text 10"/>
          <p:cNvSpPr/>
          <p:nvPr/>
        </p:nvSpPr>
        <p:spPr>
          <a:xfrm>
            <a:off x="9372600" y="4458941"/>
            <a:ext cx="8162544" cy="798165"/>
          </a:xfrm>
          <a:prstGeom prst="rect">
            <a:avLst/>
          </a:prstGeom>
          <a:noFill/>
          <a:ln/>
        </p:spPr>
        <p:txBody>
          <a:bodyPr wrap="square" lIns="25400" tIns="25400" rIns="25400" bIns="25400" rtlCol="0" anchor="t">
            <a:normAutofit/>
          </a:bodyPr>
          <a:lstStyle/>
          <a:p>
            <a:pPr algn="l" indent="0" marL="0">
              <a:lnSpc>
                <a:spcPct val="104000"/>
              </a:lnSpc>
              <a:buNone/>
            </a:pPr>
            <a:r>
              <a:rPr lang="en-US" sz="3150" b="1" spc="-31" kern="0" dirty="0">
                <a:solidFill>
                  <a:srgbClr val="1A1714"/>
                </a:solidFill>
                <a:latin typeface="Arial" pitchFamily="34" charset="0"/>
                <a:ea typeface="Arial" pitchFamily="34" charset="-122"/>
                <a:cs typeface="Arial" pitchFamily="34" charset="-120"/>
              </a:rPr>
              <a:t>Angular</a:t>
            </a:r>
            <a:endParaRPr lang="en-US" sz="3150" dirty="0"/>
          </a:p>
        </p:txBody>
      </p:sp>
      <p:sp>
        <p:nvSpPr>
          <p:cNvPr id="13" name="Text 11"/>
          <p:cNvSpPr/>
          <p:nvPr/>
        </p:nvSpPr>
        <p:spPr>
          <a:xfrm>
            <a:off x="9372600" y="5371406"/>
            <a:ext cx="8162544" cy="163800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E665E"/>
                </a:solidFill>
                <a:latin typeface="Arial" pitchFamily="34" charset="0"/>
                <a:ea typeface="Arial" pitchFamily="34" charset="-122"/>
                <a:cs typeface="Arial" pitchFamily="34" charset="-120"/>
              </a:rPr>
              <a:t>Angular fue definitivamente de las cosas con las que mas tiempo me llevaron. Entre la falta de tutoriales y codigo escrito para las nuevas versiones de angular (Angular v19 en adelante), todos los días se sentia como una batalla cuesta arriba. Aqui cabe destacar el uso de la IA como "traductor, fuente de información y programador senior".</a:t>
            </a:r>
            <a:endParaRPr lang="en-US" sz="1800" dirty="0"/>
          </a:p>
        </p:txBody>
      </p:sp>
      <p:sp>
        <p:nvSpPr>
          <p:cNvPr id="14" name="Text 12"/>
          <p:cNvSpPr/>
          <p:nvPr/>
        </p:nvSpPr>
        <p:spPr>
          <a:xfrm>
            <a:off x="990600" y="9525000"/>
            <a:ext cx="2107332" cy="2857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6E665E"/>
                </a:solidFill>
                <a:latin typeface="Arial" pitchFamily="34" charset="0"/>
                <a:ea typeface="Arial" pitchFamily="34" charset="-122"/>
                <a:cs typeface="Arial" pitchFamily="34" charset="-120"/>
              </a:rPr>
              <a:t>Retos y soluciones</a:t>
            </a:r>
            <a:endParaRPr lang="en-US" sz="1800" dirty="0"/>
          </a:p>
        </p:txBody>
      </p:sp>
      <p:sp>
        <p:nvSpPr>
          <p:cNvPr id="15" name="Text 13"/>
          <p:cNvSpPr/>
          <p:nvPr/>
        </p:nvSpPr>
        <p:spPr>
          <a:xfrm>
            <a:off x="16575435" y="9525000"/>
            <a:ext cx="798165" cy="28575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1A1714"/>
                </a:solidFill>
                <a:latin typeface="Arial" pitchFamily="34" charset="0"/>
                <a:ea typeface="Arial" pitchFamily="34" charset="-122"/>
                <a:cs typeface="Arial" pitchFamily="34" charset="-120"/>
              </a:rPr>
              <a:t>12 </a:t>
            </a:r>
            <a:pPr algn="l" indent="0" marL="0">
              <a:buNone/>
            </a:pPr>
            <a:r>
              <a:rPr lang="en-US" sz="1800" spc="36" kern="0" dirty="0">
                <a:solidFill>
                  <a:srgbClr val="6E665E"/>
                </a:solidFill>
                <a:latin typeface="Arial" pitchFamily="34" charset="0"/>
                <a:ea typeface="Arial" pitchFamily="34" charset="-122"/>
                <a:cs typeface="Arial" pitchFamily="34" charset="-120"/>
              </a:rPr>
              <a:t>/ 15</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DE7"/>
        </a:solidFill>
      </p:bgPr>
    </p:bg>
    <p:spTree>
      <p:nvGrpSpPr>
        <p:cNvPr id="1" name=""/>
        <p:cNvGrpSpPr/>
        <p:nvPr/>
      </p:nvGrpSpPr>
      <p:grpSpPr>
        <a:xfrm>
          <a:off x="0" y="0"/>
          <a:ext cx="0" cy="0"/>
          <a:chOff x="0" y="0"/>
          <a:chExt cx="0" cy="0"/>
        </a:xfrm>
      </p:grpSpPr>
      <p:sp>
        <p:nvSpPr>
          <p:cNvPr id="2" name="Shape 0"/>
          <p:cNvSpPr/>
          <p:nvPr/>
        </p:nvSpPr>
        <p:spPr>
          <a:xfrm>
            <a:off x="0" y="0"/>
            <a:ext cx="18288000" cy="66675"/>
          </a:xfrm>
          <a:prstGeom prst="rect">
            <a:avLst/>
          </a:prstGeom>
          <a:solidFill>
            <a:srgbClr val="3D2BB0"/>
          </a:solidFill>
          <a:ln/>
        </p:spPr>
      </p:sp>
      <p:sp>
        <p:nvSpPr>
          <p:cNvPr id="3" name="Text 1"/>
          <p:cNvSpPr/>
          <p:nvPr/>
        </p:nvSpPr>
        <p:spPr>
          <a:xfrm>
            <a:off x="990600" y="590550"/>
            <a:ext cx="460549"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EE3B0D"/>
                </a:solidFill>
                <a:latin typeface="Arial" pitchFamily="34" charset="0"/>
                <a:ea typeface="Arial" pitchFamily="34" charset="-122"/>
                <a:cs typeface="Arial" pitchFamily="34" charset="-120"/>
              </a:rPr>
              <a:t>13</a:t>
            </a:r>
            <a:endParaRPr lang="en-US" sz="1875" dirty="0"/>
          </a:p>
        </p:txBody>
      </p:sp>
      <p:sp>
        <p:nvSpPr>
          <p:cNvPr id="4" name="Text 2"/>
          <p:cNvSpPr/>
          <p:nvPr/>
        </p:nvSpPr>
        <p:spPr>
          <a:xfrm>
            <a:off x="1546399" y="590550"/>
            <a:ext cx="2088803"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1A1714"/>
                </a:solidFill>
                <a:latin typeface="Arial" pitchFamily="34" charset="0"/>
                <a:ea typeface="Arial" pitchFamily="34" charset="-122"/>
                <a:cs typeface="Arial" pitchFamily="34" charset="-120"/>
              </a:rPr>
              <a:t>RESULTADOS</a:t>
            </a:r>
            <a:endParaRPr lang="en-US" sz="1875" dirty="0"/>
          </a:p>
        </p:txBody>
      </p:sp>
      <p:sp>
        <p:nvSpPr>
          <p:cNvPr id="5" name="Text 3"/>
          <p:cNvSpPr/>
          <p:nvPr/>
        </p:nvSpPr>
        <p:spPr>
          <a:xfrm>
            <a:off x="990600" y="1600200"/>
            <a:ext cx="16796004" cy="1720453"/>
          </a:xfrm>
          <a:prstGeom prst="rect">
            <a:avLst/>
          </a:prstGeom>
          <a:noFill/>
          <a:ln/>
        </p:spPr>
        <p:txBody>
          <a:bodyPr wrap="square" lIns="25400" tIns="25400" rIns="25400" bIns="25400" rtlCol="0" anchor="t">
            <a:normAutofit/>
          </a:bodyPr>
          <a:lstStyle/>
          <a:p>
            <a:pPr algn="l" indent="0" marL="0">
              <a:lnSpc>
                <a:spcPct val="96000"/>
              </a:lnSpc>
              <a:buNone/>
            </a:pPr>
            <a:r>
              <a:rPr lang="en-US" sz="6900" b="1" spc="-152" kern="0" dirty="0">
                <a:solidFill>
                  <a:srgbClr val="1A1714"/>
                </a:solidFill>
                <a:latin typeface="Arial" pitchFamily="34" charset="0"/>
                <a:ea typeface="Arial" pitchFamily="34" charset="-122"/>
                <a:cs typeface="Arial" pitchFamily="34" charset="-120"/>
              </a:rPr>
              <a:t>De un PDF estático a una </a:t>
            </a:r>
            <a:pPr algn="l" indent="0" marL="0">
              <a:lnSpc>
                <a:spcPct val="96000"/>
              </a:lnSpc>
              <a:buNone/>
            </a:pPr>
            <a:r>
              <a:rPr lang="en-US" sz="6900" b="1" spc="-152" kern="0" dirty="0">
                <a:solidFill>
                  <a:srgbClr val="EE3B0D"/>
                </a:solidFill>
                <a:latin typeface="Arial" pitchFamily="34" charset="0"/>
                <a:ea typeface="Arial" pitchFamily="34" charset="-122"/>
                <a:cs typeface="Arial" pitchFamily="34" charset="-120"/>
              </a:rPr>
              <a:t>galería viva</a:t>
            </a:r>
            <a:endParaRPr lang="en-US" sz="6900" dirty="0"/>
          </a:p>
        </p:txBody>
      </p:sp>
      <p:sp>
        <p:nvSpPr>
          <p:cNvPr id="6" name="Text 4"/>
          <p:cNvSpPr/>
          <p:nvPr/>
        </p:nvSpPr>
        <p:spPr>
          <a:xfrm>
            <a:off x="990600" y="3720754"/>
            <a:ext cx="8162544" cy="28575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6E665E"/>
                </a:solidFill>
                <a:latin typeface="Arial" pitchFamily="34" charset="0"/>
                <a:ea typeface="Arial" pitchFamily="34" charset="-122"/>
                <a:cs typeface="Arial" pitchFamily="34" charset="-120"/>
              </a:rPr>
              <a:t>ANTES</a:t>
            </a:r>
            <a:endParaRPr lang="en-US" sz="1800" dirty="0"/>
          </a:p>
        </p:txBody>
      </p:sp>
      <p:sp>
        <p:nvSpPr>
          <p:cNvPr id="7" name="Text 5"/>
          <p:cNvSpPr/>
          <p:nvPr/>
        </p:nvSpPr>
        <p:spPr>
          <a:xfrm>
            <a:off x="9372600" y="3720754"/>
            <a:ext cx="8162544" cy="28575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EE3B0D"/>
                </a:solidFill>
                <a:latin typeface="Arial" pitchFamily="34" charset="0"/>
                <a:ea typeface="Arial" pitchFamily="34" charset="-122"/>
                <a:cs typeface="Arial" pitchFamily="34" charset="-120"/>
              </a:rPr>
              <a:t>DESPUÉS</a:t>
            </a:r>
            <a:endParaRPr lang="en-US" sz="1800" dirty="0"/>
          </a:p>
        </p:txBody>
      </p:sp>
      <p:sp>
        <p:nvSpPr>
          <p:cNvPr id="8" name="Text 6"/>
          <p:cNvSpPr/>
          <p:nvPr/>
        </p:nvSpPr>
        <p:spPr>
          <a:xfrm>
            <a:off x="990600" y="7762014"/>
            <a:ext cx="14716125" cy="892969"/>
          </a:xfrm>
          <a:prstGeom prst="rect">
            <a:avLst/>
          </a:prstGeom>
          <a:noFill/>
          <a:ln/>
        </p:spPr>
        <p:txBody>
          <a:bodyPr wrap="square" lIns="25400" tIns="25400" rIns="25400" bIns="25400" rtlCol="0" anchor="t">
            <a:normAutofit/>
          </a:bodyPr>
          <a:lstStyle/>
          <a:p>
            <a:pPr algn="l" indent="0" marL="0">
              <a:lnSpc>
                <a:spcPct val="132000"/>
              </a:lnSpc>
              <a:buNone/>
            </a:pPr>
            <a:r>
              <a:rPr lang="en-US" sz="2550" dirty="0">
                <a:solidFill>
                  <a:srgbClr val="6E665E"/>
                </a:solidFill>
                <a:latin typeface="Arial" pitchFamily="34" charset="0"/>
                <a:ea typeface="Arial" pitchFamily="34" charset="-122"/>
                <a:cs typeface="Arial" pitchFamily="34" charset="-120"/>
              </a:rPr>
              <a:t>Interactiva, </a:t>
            </a:r>
            <a:pPr algn="l" indent="0" marL="0">
              <a:lnSpc>
                <a:spcPct val="132000"/>
              </a:lnSpc>
              <a:buNone/>
            </a:pPr>
            <a:r>
              <a:rPr lang="en-US" sz="2550" b="1" dirty="0">
                <a:solidFill>
                  <a:srgbClr val="1A1714"/>
                </a:solidFill>
                <a:latin typeface="Arial" pitchFamily="34" charset="0"/>
                <a:ea typeface="Arial" pitchFamily="34" charset="-122"/>
                <a:cs typeface="Arial" pitchFamily="34" charset="-120"/>
              </a:rPr>
              <a:t>responsive </a:t>
            </a:r>
            <a:pPr algn="l" indent="0" marL="0">
              <a:lnSpc>
                <a:spcPct val="132000"/>
              </a:lnSpc>
              <a:buNone/>
            </a:pPr>
            <a:r>
              <a:rPr lang="en-US" sz="2550" dirty="0">
                <a:solidFill>
                  <a:srgbClr val="6E665E"/>
                </a:solidFill>
                <a:latin typeface="Arial" pitchFamily="34" charset="0"/>
                <a:ea typeface="Arial" pitchFamily="34" charset="-122"/>
                <a:cs typeface="Arial" pitchFamily="34" charset="-120"/>
              </a:rPr>
              <a:t>y </a:t>
            </a:r>
            <a:pPr algn="l" indent="0" marL="0">
              <a:lnSpc>
                <a:spcPct val="132000"/>
              </a:lnSpc>
              <a:buNone/>
            </a:pPr>
            <a:r>
              <a:rPr lang="en-US" sz="2550" b="1" dirty="0">
                <a:solidFill>
                  <a:srgbClr val="1A1714"/>
                </a:solidFill>
                <a:latin typeface="Arial" pitchFamily="34" charset="0"/>
                <a:ea typeface="Arial" pitchFamily="34" charset="-122"/>
                <a:cs typeface="Arial" pitchFamily="34" charset="-120"/>
              </a:rPr>
              <a:t>accesible </a:t>
            </a:r>
            <a:pPr algn="l" indent="0" marL="0">
              <a:lnSpc>
                <a:spcPct val="132000"/>
              </a:lnSpc>
              <a:buNone/>
            </a:pPr>
            <a:r>
              <a:rPr lang="en-US" sz="2550" dirty="0">
                <a:solidFill>
                  <a:srgbClr val="6E665E"/>
                </a:solidFill>
                <a:latin typeface="Arial" pitchFamily="34" charset="0"/>
                <a:ea typeface="Arial" pitchFamily="34" charset="-122"/>
                <a:cs typeface="Arial" pitchFamily="34" charset="-120"/>
              </a:rPr>
              <a:t>, actualizable en tiempo real. El centro gestiona obras, autores y técnicas </a:t>
            </a:r>
            <a:pPr algn="l" indent="0" marL="0">
              <a:lnSpc>
                <a:spcPct val="132000"/>
              </a:lnSpc>
              <a:buNone/>
            </a:pPr>
            <a:r>
              <a:rPr lang="en-US" sz="2550" b="1" dirty="0">
                <a:solidFill>
                  <a:srgbClr val="1A1714"/>
                </a:solidFill>
                <a:latin typeface="Arial" pitchFamily="34" charset="0"/>
                <a:ea typeface="Arial" pitchFamily="34" charset="-122"/>
                <a:cs typeface="Arial" pitchFamily="34" charset="-120"/>
              </a:rPr>
              <a:t>sin depender de ayuda técnica externa</a:t>
            </a:r>
            <a:pPr algn="l" indent="0" marL="0">
              <a:lnSpc>
                <a:spcPct val="132000"/>
              </a:lnSpc>
              <a:buNone/>
            </a:pPr>
            <a:r>
              <a:rPr lang="en-US" sz="2550" dirty="0">
                <a:solidFill>
                  <a:srgbClr val="6E665E"/>
                </a:solidFill>
                <a:latin typeface="Arial" pitchFamily="34" charset="0"/>
                <a:ea typeface="Arial" pitchFamily="34" charset="-122"/>
                <a:cs typeface="Arial" pitchFamily="34" charset="-120"/>
              </a:rPr>
              <a:t>.</a:t>
            </a:r>
            <a:endParaRPr lang="en-US" sz="2550" dirty="0"/>
          </a:p>
        </p:txBody>
      </p:sp>
      <p:sp>
        <p:nvSpPr>
          <p:cNvPr id="9" name="Text 7"/>
          <p:cNvSpPr/>
          <p:nvPr/>
        </p:nvSpPr>
        <p:spPr>
          <a:xfrm>
            <a:off x="990600" y="9525000"/>
            <a:ext cx="2422550" cy="2857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6E665E"/>
                </a:solidFill>
                <a:latin typeface="Arial" pitchFamily="34" charset="0"/>
                <a:ea typeface="Arial" pitchFamily="34" charset="-122"/>
                <a:cs typeface="Arial" pitchFamily="34" charset="-120"/>
              </a:rPr>
              <a:t>Resultados obtenidos</a:t>
            </a:r>
            <a:endParaRPr lang="en-US" sz="1800" dirty="0"/>
          </a:p>
        </p:txBody>
      </p:sp>
      <p:sp>
        <p:nvSpPr>
          <p:cNvPr id="10" name="Text 8"/>
          <p:cNvSpPr/>
          <p:nvPr/>
        </p:nvSpPr>
        <p:spPr>
          <a:xfrm>
            <a:off x="16575435" y="9525000"/>
            <a:ext cx="798165" cy="28575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1A1714"/>
                </a:solidFill>
                <a:latin typeface="Arial" pitchFamily="34" charset="0"/>
                <a:ea typeface="Arial" pitchFamily="34" charset="-122"/>
                <a:cs typeface="Arial" pitchFamily="34" charset="-120"/>
              </a:rPr>
              <a:t>13 </a:t>
            </a:r>
            <a:pPr algn="l" indent="0" marL="0">
              <a:buNone/>
            </a:pPr>
            <a:r>
              <a:rPr lang="en-US" sz="1800" spc="36" kern="0" dirty="0">
                <a:solidFill>
                  <a:srgbClr val="6E665E"/>
                </a:solidFill>
                <a:latin typeface="Arial" pitchFamily="34" charset="0"/>
                <a:ea typeface="Arial" pitchFamily="34" charset="-122"/>
                <a:cs typeface="Arial" pitchFamily="34" charset="-120"/>
              </a:rPr>
              <a:t>/ 15</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DE7"/>
        </a:solidFill>
      </p:bgPr>
    </p:bg>
    <p:spTree>
      <p:nvGrpSpPr>
        <p:cNvPr id="1" name=""/>
        <p:cNvGrpSpPr/>
        <p:nvPr/>
      </p:nvGrpSpPr>
      <p:grpSpPr>
        <a:xfrm>
          <a:off x="0" y="0"/>
          <a:ext cx="0" cy="0"/>
          <a:chOff x="0" y="0"/>
          <a:chExt cx="0" cy="0"/>
        </a:xfrm>
      </p:grpSpPr>
      <p:sp>
        <p:nvSpPr>
          <p:cNvPr id="2" name="Shape 0"/>
          <p:cNvSpPr/>
          <p:nvPr/>
        </p:nvSpPr>
        <p:spPr>
          <a:xfrm>
            <a:off x="0" y="0"/>
            <a:ext cx="18288000" cy="66675"/>
          </a:xfrm>
          <a:prstGeom prst="rect">
            <a:avLst/>
          </a:prstGeom>
          <a:solidFill>
            <a:srgbClr val="3D2BB0"/>
          </a:solidFill>
          <a:ln/>
        </p:spPr>
      </p:sp>
      <p:sp>
        <p:nvSpPr>
          <p:cNvPr id="3" name="Text 1"/>
          <p:cNvSpPr/>
          <p:nvPr/>
        </p:nvSpPr>
        <p:spPr>
          <a:xfrm>
            <a:off x="990600" y="590550"/>
            <a:ext cx="460549"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EE3B0D"/>
                </a:solidFill>
                <a:latin typeface="Arial" pitchFamily="34" charset="0"/>
                <a:ea typeface="Arial" pitchFamily="34" charset="-122"/>
                <a:cs typeface="Arial" pitchFamily="34" charset="-120"/>
              </a:rPr>
              <a:t>14</a:t>
            </a:r>
            <a:endParaRPr lang="en-US" sz="1875" dirty="0"/>
          </a:p>
        </p:txBody>
      </p:sp>
      <p:sp>
        <p:nvSpPr>
          <p:cNvPr id="4" name="Text 2"/>
          <p:cNvSpPr/>
          <p:nvPr/>
        </p:nvSpPr>
        <p:spPr>
          <a:xfrm>
            <a:off x="1546399" y="590550"/>
            <a:ext cx="3087934" cy="300038"/>
          </a:xfrm>
          <a:prstGeom prst="rect">
            <a:avLst/>
          </a:prstGeom>
          <a:noFill/>
          <a:ln/>
        </p:spPr>
        <p:txBody>
          <a:bodyPr wrap="square" lIns="25400" tIns="25400" rIns="25400" bIns="25400" rtlCol="0" anchor="t">
            <a:normAutofit/>
          </a:bodyPr>
          <a:lstStyle/>
          <a:p>
            <a:pPr algn="l" indent="0" marL="0">
              <a:buNone/>
            </a:pPr>
            <a:r>
              <a:rPr lang="en-US" sz="1875" b="1" spc="263" kern="0" dirty="0">
                <a:solidFill>
                  <a:srgbClr val="1A1714"/>
                </a:solidFill>
                <a:latin typeface="Arial" pitchFamily="34" charset="0"/>
                <a:ea typeface="Arial" pitchFamily="34" charset="-122"/>
                <a:cs typeface="Arial" pitchFamily="34" charset="-120"/>
              </a:rPr>
              <a:t>MEJORAS FUTURAS</a:t>
            </a:r>
            <a:endParaRPr lang="en-US" sz="1875" dirty="0"/>
          </a:p>
        </p:txBody>
      </p:sp>
      <p:sp>
        <p:nvSpPr>
          <p:cNvPr id="5" name="Text 3"/>
          <p:cNvSpPr/>
          <p:nvPr/>
        </p:nvSpPr>
        <p:spPr>
          <a:xfrm>
            <a:off x="990600" y="1600200"/>
            <a:ext cx="16796004" cy="1720453"/>
          </a:xfrm>
          <a:prstGeom prst="rect">
            <a:avLst/>
          </a:prstGeom>
          <a:noFill/>
          <a:ln/>
        </p:spPr>
        <p:txBody>
          <a:bodyPr wrap="square" lIns="25400" tIns="25400" rIns="25400" bIns="25400" rtlCol="0" anchor="t">
            <a:normAutofit/>
          </a:bodyPr>
          <a:lstStyle/>
          <a:p>
            <a:pPr algn="l" indent="0" marL="0">
              <a:lnSpc>
                <a:spcPct val="96000"/>
              </a:lnSpc>
              <a:buNone/>
            </a:pPr>
            <a:r>
              <a:rPr lang="en-US" sz="6900" b="1" spc="-152" kern="0" dirty="0">
                <a:solidFill>
                  <a:srgbClr val="1A1714"/>
                </a:solidFill>
                <a:latin typeface="Arial" pitchFamily="34" charset="0"/>
                <a:ea typeface="Arial" pitchFamily="34" charset="-122"/>
                <a:cs typeface="Arial" pitchFamily="34" charset="-120"/>
              </a:rPr>
              <a:t>Ideas que dejo </a:t>
            </a:r>
            <a:pPr algn="l" indent="0" marL="0">
              <a:lnSpc>
                <a:spcPct val="96000"/>
              </a:lnSpc>
              <a:buNone/>
            </a:pPr>
            <a:r>
              <a:rPr lang="en-US" sz="6900" b="1" spc="-152" kern="0" dirty="0">
                <a:solidFill>
                  <a:srgbClr val="EE3B0D"/>
                </a:solidFill>
                <a:latin typeface="Arial" pitchFamily="34" charset="0"/>
                <a:ea typeface="Arial" pitchFamily="34" charset="-122"/>
                <a:cs typeface="Arial" pitchFamily="34" charset="-120"/>
              </a:rPr>
              <a:t>planteadas</a:t>
            </a:r>
            <a:endParaRPr lang="en-US" sz="6900" dirty="0"/>
          </a:p>
        </p:txBody>
      </p:sp>
      <p:sp>
        <p:nvSpPr>
          <p:cNvPr id="6" name="Shape 4"/>
          <p:cNvSpPr/>
          <p:nvPr/>
        </p:nvSpPr>
        <p:spPr>
          <a:xfrm>
            <a:off x="990600" y="3758851"/>
            <a:ext cx="7924800" cy="47625"/>
          </a:xfrm>
          <a:prstGeom prst="rect">
            <a:avLst/>
          </a:prstGeom>
          <a:solidFill>
            <a:srgbClr val="EE3B0D"/>
          </a:solidFill>
          <a:ln/>
        </p:spPr>
      </p:sp>
      <p:sp>
        <p:nvSpPr>
          <p:cNvPr id="7" name="Text 5"/>
          <p:cNvSpPr/>
          <p:nvPr/>
        </p:nvSpPr>
        <p:spPr>
          <a:xfrm>
            <a:off x="990600" y="4073176"/>
            <a:ext cx="8162544" cy="309563"/>
          </a:xfrm>
          <a:prstGeom prst="rect">
            <a:avLst/>
          </a:prstGeom>
          <a:noFill/>
          <a:ln/>
        </p:spPr>
        <p:txBody>
          <a:bodyPr wrap="square" lIns="25400" tIns="25400" rIns="25400" bIns="25400" rtlCol="0" anchor="t">
            <a:normAutofit/>
          </a:bodyPr>
          <a:lstStyle/>
          <a:p>
            <a:pPr algn="l" indent="0" marL="0">
              <a:buNone/>
            </a:pPr>
            <a:r>
              <a:rPr lang="en-US" sz="1950" b="1" dirty="0">
                <a:solidFill>
                  <a:srgbClr val="EE3B0D"/>
                </a:solidFill>
                <a:latin typeface="Arial" pitchFamily="34" charset="0"/>
                <a:ea typeface="Arial" pitchFamily="34" charset="-122"/>
                <a:cs typeface="Arial" pitchFamily="34" charset="-120"/>
              </a:rPr>
              <a:t>01</a:t>
            </a:r>
            <a:endParaRPr lang="en-US" sz="1950" dirty="0"/>
          </a:p>
        </p:txBody>
      </p:sp>
      <p:sp>
        <p:nvSpPr>
          <p:cNvPr id="8" name="Text 6"/>
          <p:cNvSpPr/>
          <p:nvPr/>
        </p:nvSpPr>
        <p:spPr>
          <a:xfrm>
            <a:off x="990600" y="4516089"/>
            <a:ext cx="8162544" cy="798165"/>
          </a:xfrm>
          <a:prstGeom prst="rect">
            <a:avLst/>
          </a:prstGeom>
          <a:noFill/>
          <a:ln/>
        </p:spPr>
        <p:txBody>
          <a:bodyPr wrap="square" lIns="25400" tIns="25400" rIns="25400" bIns="25400" rtlCol="0" anchor="t">
            <a:normAutofit/>
          </a:bodyPr>
          <a:lstStyle/>
          <a:p>
            <a:pPr algn="l" indent="0" marL="0">
              <a:lnSpc>
                <a:spcPct val="104000"/>
              </a:lnSpc>
              <a:buNone/>
            </a:pPr>
            <a:r>
              <a:rPr lang="en-US" sz="3150" b="1" spc="-31" kern="0" dirty="0">
                <a:solidFill>
                  <a:srgbClr val="1A1714"/>
                </a:solidFill>
                <a:latin typeface="Arial" pitchFamily="34" charset="0"/>
                <a:ea typeface="Arial" pitchFamily="34" charset="-122"/>
                <a:cs typeface="Arial" pitchFamily="34" charset="-120"/>
              </a:rPr>
              <a:t>Alta de entidades sin salir del formulario</a:t>
            </a:r>
            <a:endParaRPr lang="en-US" sz="3150" dirty="0"/>
          </a:p>
        </p:txBody>
      </p:sp>
      <p:sp>
        <p:nvSpPr>
          <p:cNvPr id="9" name="Text 7"/>
          <p:cNvSpPr/>
          <p:nvPr/>
        </p:nvSpPr>
        <p:spPr>
          <a:xfrm>
            <a:off x="990600" y="5428554"/>
            <a:ext cx="8162544"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E665E"/>
                </a:solidFill>
                <a:latin typeface="Arial" pitchFamily="34" charset="0"/>
                <a:ea typeface="Arial" pitchFamily="34" charset="-122"/>
                <a:cs typeface="Arial" pitchFamily="34" charset="-120"/>
              </a:rPr>
              <a:t>Crear un autor, técnica o material que aún no existe desde el propio formulario de la obra, mediante un «crear nuevo» en el desplegable. Queda seleccionado automáticamente, sin interrumpir la edición ni perder el progreso. Agiliza la catalogación en serie.</a:t>
            </a:r>
            <a:endParaRPr lang="en-US" sz="1800" dirty="0"/>
          </a:p>
        </p:txBody>
      </p:sp>
      <p:sp>
        <p:nvSpPr>
          <p:cNvPr id="10" name="Shape 8"/>
          <p:cNvSpPr/>
          <p:nvPr/>
        </p:nvSpPr>
        <p:spPr>
          <a:xfrm>
            <a:off x="9372600" y="3758851"/>
            <a:ext cx="7924800" cy="47625"/>
          </a:xfrm>
          <a:prstGeom prst="rect">
            <a:avLst/>
          </a:prstGeom>
          <a:solidFill>
            <a:srgbClr val="EE3B0D"/>
          </a:solidFill>
          <a:ln/>
        </p:spPr>
      </p:sp>
      <p:sp>
        <p:nvSpPr>
          <p:cNvPr id="11" name="Text 9"/>
          <p:cNvSpPr/>
          <p:nvPr/>
        </p:nvSpPr>
        <p:spPr>
          <a:xfrm>
            <a:off x="9372600" y="4073176"/>
            <a:ext cx="8162544" cy="309563"/>
          </a:xfrm>
          <a:prstGeom prst="rect">
            <a:avLst/>
          </a:prstGeom>
          <a:noFill/>
          <a:ln/>
        </p:spPr>
        <p:txBody>
          <a:bodyPr wrap="square" lIns="25400" tIns="25400" rIns="25400" bIns="25400" rtlCol="0" anchor="t">
            <a:normAutofit/>
          </a:bodyPr>
          <a:lstStyle/>
          <a:p>
            <a:pPr algn="l" indent="0" marL="0">
              <a:buNone/>
            </a:pPr>
            <a:r>
              <a:rPr lang="en-US" sz="1950" b="1" dirty="0">
                <a:solidFill>
                  <a:srgbClr val="EE3B0D"/>
                </a:solidFill>
                <a:latin typeface="Arial" pitchFamily="34" charset="0"/>
                <a:ea typeface="Arial" pitchFamily="34" charset="-122"/>
                <a:cs typeface="Arial" pitchFamily="34" charset="-120"/>
              </a:rPr>
              <a:t>02</a:t>
            </a:r>
            <a:endParaRPr lang="en-US" sz="1950" dirty="0"/>
          </a:p>
        </p:txBody>
      </p:sp>
      <p:sp>
        <p:nvSpPr>
          <p:cNvPr id="12" name="Text 10"/>
          <p:cNvSpPr/>
          <p:nvPr/>
        </p:nvSpPr>
        <p:spPr>
          <a:xfrm>
            <a:off x="9372600" y="4516089"/>
            <a:ext cx="8162544" cy="798165"/>
          </a:xfrm>
          <a:prstGeom prst="rect">
            <a:avLst/>
          </a:prstGeom>
          <a:noFill/>
          <a:ln/>
        </p:spPr>
        <p:txBody>
          <a:bodyPr wrap="square" lIns="25400" tIns="25400" rIns="25400" bIns="25400" rtlCol="0" anchor="t">
            <a:normAutofit/>
          </a:bodyPr>
          <a:lstStyle/>
          <a:p>
            <a:pPr algn="l" indent="0" marL="0">
              <a:lnSpc>
                <a:spcPct val="104000"/>
              </a:lnSpc>
              <a:buNone/>
            </a:pPr>
            <a:r>
              <a:rPr lang="en-US" sz="3150" b="1" spc="-31" kern="0" dirty="0">
                <a:solidFill>
                  <a:srgbClr val="1A1714"/>
                </a:solidFill>
                <a:latin typeface="Arial" pitchFamily="34" charset="0"/>
                <a:ea typeface="Arial" pitchFamily="34" charset="-122"/>
                <a:cs typeface="Arial" pitchFamily="34" charset="-120"/>
              </a:rPr>
              <a:t>Filtrado avanzado del catálogo</a:t>
            </a:r>
            <a:endParaRPr lang="en-US" sz="3150" dirty="0"/>
          </a:p>
        </p:txBody>
      </p:sp>
      <p:sp>
        <p:nvSpPr>
          <p:cNvPr id="13" name="Text 11"/>
          <p:cNvSpPr/>
          <p:nvPr/>
        </p:nvSpPr>
        <p:spPr>
          <a:xfrm>
            <a:off x="9372600" y="5428554"/>
            <a:ext cx="8162544"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E665E"/>
                </a:solidFill>
                <a:latin typeface="Arial" pitchFamily="34" charset="0"/>
                <a:ea typeface="Arial" pitchFamily="34" charset="-122"/>
                <a:cs typeface="Arial" pitchFamily="34" charset="-120"/>
              </a:rPr>
              <a:t>Explotar datos ya almacenados —corriente artística, lugar de nacimiento del autor, época de la obra— para filtros más granulares y combinables, reflejados en la URL para compartir una búsqueda. Más cerca de un catálogo museístico profesional.</a:t>
            </a:r>
            <a:endParaRPr lang="en-US" sz="1800" dirty="0"/>
          </a:p>
        </p:txBody>
      </p:sp>
      <p:sp>
        <p:nvSpPr>
          <p:cNvPr id="14" name="Text 12"/>
          <p:cNvSpPr/>
          <p:nvPr/>
        </p:nvSpPr>
        <p:spPr>
          <a:xfrm>
            <a:off x="990600" y="9525000"/>
            <a:ext cx="1741810" cy="2857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6E665E"/>
                </a:solidFill>
                <a:latin typeface="Arial" pitchFamily="34" charset="0"/>
                <a:ea typeface="Arial" pitchFamily="34" charset="-122"/>
                <a:cs typeface="Arial" pitchFamily="34" charset="-120"/>
              </a:rPr>
              <a:t>Mejoras futuras</a:t>
            </a:r>
            <a:endParaRPr lang="en-US" sz="1800" dirty="0"/>
          </a:p>
        </p:txBody>
      </p:sp>
      <p:sp>
        <p:nvSpPr>
          <p:cNvPr id="15" name="Text 13"/>
          <p:cNvSpPr/>
          <p:nvPr/>
        </p:nvSpPr>
        <p:spPr>
          <a:xfrm>
            <a:off x="16575212" y="9525000"/>
            <a:ext cx="798388" cy="285750"/>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1A1714"/>
                </a:solidFill>
                <a:latin typeface="Arial" pitchFamily="34" charset="0"/>
                <a:ea typeface="Arial" pitchFamily="34" charset="-122"/>
                <a:cs typeface="Arial" pitchFamily="34" charset="-120"/>
              </a:rPr>
              <a:t>14 </a:t>
            </a:r>
            <a:pPr algn="l" indent="0" marL="0">
              <a:buNone/>
            </a:pPr>
            <a:r>
              <a:rPr lang="en-US" sz="1800" spc="36" kern="0" dirty="0">
                <a:solidFill>
                  <a:srgbClr val="6E665E"/>
                </a:solidFill>
                <a:latin typeface="Arial" pitchFamily="34" charset="0"/>
                <a:ea typeface="Arial" pitchFamily="34" charset="-122"/>
                <a:cs typeface="Arial" pitchFamily="34" charset="-120"/>
              </a:rPr>
              <a:t>/ 15</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714"/>
        </a:solidFill>
      </p:bgPr>
    </p:bg>
    <p:spTree>
      <p:nvGrpSpPr>
        <p:cNvPr id="1" name=""/>
        <p:cNvGrpSpPr/>
        <p:nvPr/>
      </p:nvGrpSpPr>
      <p:grpSpPr>
        <a:xfrm>
          <a:off x="0" y="0"/>
          <a:ext cx="0" cy="0"/>
          <a:chOff x="0" y="0"/>
          <a:chExt cx="0" cy="0"/>
        </a:xfrm>
      </p:grpSpPr>
      <p:sp>
        <p:nvSpPr>
          <p:cNvPr id="2" name="Text 0"/>
          <p:cNvSpPr/>
          <p:nvPr/>
        </p:nvSpPr>
        <p:spPr>
          <a:xfrm>
            <a:off x="-274320" y="3276600"/>
            <a:ext cx="18836640" cy="3771900"/>
          </a:xfrm>
          <a:prstGeom prst="rect">
            <a:avLst/>
          </a:prstGeom>
          <a:noFill/>
          <a:ln/>
        </p:spPr>
        <p:txBody>
          <a:bodyPr wrap="none" lIns="25400" tIns="25400" rIns="25400" bIns="25400" rtlCol="0" anchor="t">
            <a:normAutofit/>
          </a:bodyPr>
          <a:lstStyle/>
          <a:p>
            <a:pPr algn="ctr" indent="0" marL="0">
              <a:lnSpc>
                <a:spcPct val="100000"/>
              </a:lnSpc>
              <a:buNone/>
            </a:pPr>
            <a:r>
              <a:rPr lang="en-US" sz="29400" b="1" spc="-882" kern="0" dirty="0">
                <a:solidFill>
                  <a:srgbClr val="EE3B0D">
                    <a:alpha val="16000"/>
                  </a:srgbClr>
                </a:solidFill>
                <a:latin typeface="Arial" pitchFamily="34" charset="0"/>
                <a:ea typeface="Arial" pitchFamily="34" charset="-122"/>
                <a:cs typeface="Arial" pitchFamily="34" charset="-120"/>
              </a:rPr>
              <a:t>GALERÍA</a:t>
            </a:r>
            <a:endParaRPr lang="en-US" sz="29400" dirty="0"/>
          </a:p>
        </p:txBody>
      </p:sp>
      <p:sp>
        <p:nvSpPr>
          <p:cNvPr id="3" name="Text 1"/>
          <p:cNvSpPr/>
          <p:nvPr/>
        </p:nvSpPr>
        <p:spPr>
          <a:xfrm>
            <a:off x="-274320" y="4217670"/>
            <a:ext cx="18836640" cy="1752600"/>
          </a:xfrm>
          <a:prstGeom prst="rect">
            <a:avLst/>
          </a:prstGeom>
          <a:noFill/>
          <a:ln/>
        </p:spPr>
        <p:txBody>
          <a:bodyPr wrap="square" lIns="25400" tIns="25400" rIns="25400" bIns="25400" rtlCol="0" anchor="t">
            <a:normAutofit/>
          </a:bodyPr>
          <a:lstStyle/>
          <a:p>
            <a:pPr algn="ctr" indent="0" marL="0">
              <a:lnSpc>
                <a:spcPct val="90000"/>
              </a:lnSpc>
              <a:buNone/>
            </a:pPr>
            <a:r>
              <a:rPr lang="en-US" sz="15000" b="1" spc="-300" kern="0" dirty="0">
                <a:solidFill>
                  <a:srgbClr val="F3EDE7"/>
                </a:solidFill>
                <a:latin typeface="Arial" pitchFamily="34" charset="0"/>
                <a:ea typeface="Arial" pitchFamily="34" charset="-122"/>
                <a:cs typeface="Arial" pitchFamily="34" charset="-120"/>
              </a:rPr>
              <a:t>GRACIAS</a:t>
            </a:r>
            <a:endParaRPr lang="en-US" sz="15000" dirty="0"/>
          </a:p>
        </p:txBody>
      </p:sp>
      <p:sp>
        <p:nvSpPr>
          <p:cNvPr id="4" name="Text 2"/>
          <p:cNvSpPr/>
          <p:nvPr/>
        </p:nvSpPr>
        <p:spPr>
          <a:xfrm>
            <a:off x="-274320" y="6377880"/>
            <a:ext cx="18836640" cy="433388"/>
          </a:xfrm>
          <a:prstGeom prst="rect">
            <a:avLst/>
          </a:prstGeom>
          <a:noFill/>
          <a:ln/>
        </p:spPr>
        <p:txBody>
          <a:bodyPr wrap="square" lIns="25400" tIns="25400" rIns="25400" bIns="25400" rtlCol="0" anchor="t">
            <a:normAutofit/>
          </a:bodyPr>
          <a:lstStyle/>
          <a:p>
            <a:pPr algn="ctr" indent="0" marL="0">
              <a:buNone/>
            </a:pPr>
            <a:r>
              <a:rPr lang="en-US" sz="2850" b="1" spc="29" kern="0" dirty="0">
                <a:solidFill>
                  <a:srgbClr val="F3EDE7">
                    <a:alpha val="85000"/>
                  </a:srgbClr>
                </a:solidFill>
                <a:latin typeface="Arial" pitchFamily="34" charset="0"/>
                <a:ea typeface="Arial" pitchFamily="34" charset="-122"/>
                <a:cs typeface="Arial" pitchFamily="34" charset="-120"/>
              </a:rPr>
              <a:t>Pelayo Prieto Calderón · 2º DAW · ¿Preguntas?</a:t>
            </a:r>
            <a:endParaRPr lang="en-US" sz="2850" dirty="0"/>
          </a:p>
        </p:txBody>
      </p:sp>
      <p:sp>
        <p:nvSpPr>
          <p:cNvPr id="5" name="Text 3"/>
          <p:cNvSpPr/>
          <p:nvPr/>
        </p:nvSpPr>
        <p:spPr>
          <a:xfrm>
            <a:off x="990600" y="590550"/>
            <a:ext cx="2582987" cy="309563"/>
          </a:xfrm>
          <a:prstGeom prst="rect">
            <a:avLst/>
          </a:prstGeom>
          <a:noFill/>
          <a:ln/>
        </p:spPr>
        <p:txBody>
          <a:bodyPr wrap="square" lIns="25400" tIns="25400" rIns="25400" bIns="25400" rtlCol="0" anchor="t">
            <a:normAutofit/>
          </a:bodyPr>
          <a:lstStyle/>
          <a:p>
            <a:pPr algn="l" indent="0" marL="0">
              <a:buNone/>
            </a:pPr>
            <a:r>
              <a:rPr lang="en-US" sz="1950" b="1" dirty="0">
                <a:solidFill>
                  <a:srgbClr val="EE3B0D"/>
                </a:solidFill>
                <a:latin typeface="Arial" pitchFamily="34" charset="0"/>
                <a:ea typeface="Arial" pitchFamily="34" charset="-122"/>
                <a:cs typeface="Arial" pitchFamily="34" charset="-120"/>
              </a:rPr>
              <a:t>15 · CONCLUSIONES</a:t>
            </a:r>
            <a:endParaRPr lang="en-US" sz="1950" dirty="0"/>
          </a:p>
        </p:txBody>
      </p:sp>
      <p:sp>
        <p:nvSpPr>
          <p:cNvPr id="6" name="Text 4"/>
          <p:cNvSpPr/>
          <p:nvPr/>
        </p:nvSpPr>
        <p:spPr>
          <a:xfrm>
            <a:off x="13935596" y="9501188"/>
            <a:ext cx="3462658" cy="309563"/>
          </a:xfrm>
          <a:prstGeom prst="rect">
            <a:avLst/>
          </a:prstGeom>
          <a:noFill/>
          <a:ln/>
        </p:spPr>
        <p:txBody>
          <a:bodyPr wrap="square" lIns="25400" tIns="25400" rIns="25400" bIns="25400" rtlCol="0" anchor="t">
            <a:normAutofit/>
          </a:bodyPr>
          <a:lstStyle/>
          <a:p>
            <a:pPr algn="l" indent="0" marL="0">
              <a:buNone/>
            </a:pPr>
            <a:r>
              <a:rPr lang="en-US" sz="1950" b="1" dirty="0">
                <a:solidFill>
                  <a:srgbClr val="F3EDE7">
                    <a:alpha val="75000"/>
                  </a:srgbClr>
                </a:solidFill>
                <a:latin typeface="Arial" pitchFamily="34" charset="0"/>
                <a:ea typeface="Arial" pitchFamily="34" charset="-122"/>
                <a:cs typeface="Arial" pitchFamily="34" charset="-120"/>
              </a:rPr>
              <a:t>Proyecto Fin de Curso · DAW</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2026-06-12T09:20:30Z</dcterms:created>
  <dcterms:modified xsi:type="dcterms:W3CDTF">2026-06-12T09:20:30Z</dcterms:modified>
</cp:coreProperties>
</file>